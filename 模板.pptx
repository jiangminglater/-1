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5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6" r:id="rId18"/>
    <p:sldId id="275" r:id="rId19"/>
    <p:sldId id="277" r:id="rId20"/>
    <p:sldId id="278" r:id="rId21"/>
    <p:sldId id="272" r:id="rId22"/>
    <p:sldId id="273" r:id="rId23"/>
    <p:sldId id="274" r:id="rId24"/>
  </p:sldIdLst>
  <p:sldSz cx="12192000" cy="6858000"/>
  <p:notesSz cx="6858000" cy="9144000"/>
  <p:custDataLst>
    <p:tags r:id="rId26"/>
  </p:custDataLst>
  <p:kinsoku lang="zh-CN" invalStChars="!),.:;?]}、。—ˇ¨〃々～‖…’”〕〉》」』〗】∶！＂＇），．：；？］｀｜｝·" invalEndChars="([{‘“〔〈《「『〖【（［｛．·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7" autoAdjust="0"/>
    <p:restoredTop sz="86483" autoAdjust="0"/>
  </p:normalViewPr>
  <p:slideViewPr>
    <p:cSldViewPr snapToGrid="0" showGuides="1">
      <p:cViewPr varScale="1">
        <p:scale>
          <a:sx n="123" d="100"/>
          <a:sy n="123" d="100"/>
        </p:scale>
        <p:origin x="114" y="31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9A9E8B-8668-4EE9-81CF-39121E276770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3DABDA-89F0-4727-B28F-05A90B0069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9895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DD0F2045-0598-CD7F-1D38-263BEC48227B}"/>
              </a:ext>
            </a:extLst>
          </p:cNvPr>
          <p:cNvGrpSpPr/>
          <p:nvPr/>
        </p:nvGrpSpPr>
        <p:grpSpPr>
          <a:xfrm>
            <a:off x="0" y="1843087"/>
            <a:ext cx="12192000" cy="5014913"/>
            <a:chOff x="0" y="1843087"/>
            <a:chExt cx="12192000" cy="5014913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9AF60B7D-584E-7A53-71C2-8033853BE6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2205037"/>
              <a:ext cx="12192000" cy="4652963"/>
            </a:xfrm>
            <a:custGeom>
              <a:avLst/>
              <a:gdLst>
                <a:gd name="T0" fmla="*/ 0 w 7680"/>
                <a:gd name="T1" fmla="*/ 2931 h 2931"/>
                <a:gd name="T2" fmla="*/ 7680 w 7680"/>
                <a:gd name="T3" fmla="*/ 2931 h 2931"/>
                <a:gd name="T4" fmla="*/ 7680 w 7680"/>
                <a:gd name="T5" fmla="*/ 0 h 2931"/>
                <a:gd name="T6" fmla="*/ 0 w 7680"/>
                <a:gd name="T7" fmla="*/ 2020 h 2931"/>
                <a:gd name="T8" fmla="*/ 0 w 7680"/>
                <a:gd name="T9" fmla="*/ 2931 h 2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680" h="2931">
                  <a:moveTo>
                    <a:pt x="0" y="2931"/>
                  </a:moveTo>
                  <a:lnTo>
                    <a:pt x="7680" y="2931"/>
                  </a:lnTo>
                  <a:lnTo>
                    <a:pt x="7680" y="0"/>
                  </a:lnTo>
                  <a:lnTo>
                    <a:pt x="0" y="2020"/>
                  </a:lnTo>
                  <a:lnTo>
                    <a:pt x="0" y="2931"/>
                  </a:lnTo>
                  <a:close/>
                </a:path>
              </a:pathLst>
            </a:custGeom>
            <a:blipFill rotWithShape="0">
              <a:blip r:embed="rId2"/>
              <a:srcRect/>
              <a:stretch>
                <a:fillRect t="-46080" b="-37430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zh-CN" altLang="en-US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9326F01-1ADC-5A72-E27A-53934186A7C6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843087"/>
              <a:ext cx="12192000" cy="3568700"/>
            </a:xfrm>
            <a:custGeom>
              <a:avLst/>
              <a:gdLst>
                <a:gd name="T0" fmla="*/ 0 w 7680"/>
                <a:gd name="T1" fmla="*/ 2020 h 2248"/>
                <a:gd name="T2" fmla="*/ 0 w 7680"/>
                <a:gd name="T3" fmla="*/ 2248 h 2248"/>
                <a:gd name="T4" fmla="*/ 7680 w 7680"/>
                <a:gd name="T5" fmla="*/ 228 h 2248"/>
                <a:gd name="T6" fmla="*/ 7680 w 7680"/>
                <a:gd name="T7" fmla="*/ 0 h 2248"/>
                <a:gd name="T8" fmla="*/ 0 w 7680"/>
                <a:gd name="T9" fmla="*/ 2020 h 2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680" h="2248">
                  <a:moveTo>
                    <a:pt x="0" y="2020"/>
                  </a:moveTo>
                  <a:lnTo>
                    <a:pt x="0" y="2248"/>
                  </a:lnTo>
                  <a:lnTo>
                    <a:pt x="7680" y="228"/>
                  </a:lnTo>
                  <a:lnTo>
                    <a:pt x="7680" y="0"/>
                  </a:lnTo>
                  <a:lnTo>
                    <a:pt x="0" y="202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528B8C1-728C-CEBD-3EE5-8237E8A0CA48}"/>
                </a:ext>
              </a:extLst>
            </p:cNvPr>
            <p:cNvSpPr/>
            <p:nvPr/>
          </p:nvSpPr>
          <p:spPr>
            <a:xfrm>
              <a:off x="10652478" y="2020126"/>
              <a:ext cx="866422" cy="4837874"/>
            </a:xfrm>
            <a:custGeom>
              <a:avLst/>
              <a:gdLst>
                <a:gd name="connsiteX0" fmla="*/ 866422 w 866422"/>
                <a:gd name="connsiteY0" fmla="*/ 0 h 4837874"/>
                <a:gd name="connsiteX1" fmla="*/ 866422 w 866422"/>
                <a:gd name="connsiteY1" fmla="*/ 4837874 h 4837874"/>
                <a:gd name="connsiteX2" fmla="*/ 0 w 866422"/>
                <a:gd name="connsiteY2" fmla="*/ 4837874 h 4837874"/>
                <a:gd name="connsiteX3" fmla="*/ 0 w 866422"/>
                <a:gd name="connsiteY3" fmla="*/ 227888 h 4837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6422" h="4837874">
                  <a:moveTo>
                    <a:pt x="866422" y="0"/>
                  </a:moveTo>
                  <a:lnTo>
                    <a:pt x="866422" y="4837874"/>
                  </a:lnTo>
                  <a:lnTo>
                    <a:pt x="0" y="4837874"/>
                  </a:lnTo>
                  <a:lnTo>
                    <a:pt x="0" y="227888"/>
                  </a:lnTo>
                  <a:close/>
                </a:path>
              </a:pathLst>
            </a:custGeom>
            <a:gradFill>
              <a:gsLst>
                <a:gs pos="100000">
                  <a:schemeClr val="accent1">
                    <a:alpha val="0"/>
                  </a:schemeClr>
                </a:gs>
                <a:gs pos="0">
                  <a:schemeClr val="accent1">
                    <a:alpha val="7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5" name="Title 4"/>
          <p:cNvSpPr>
            <a:spLocks noGrp="1"/>
          </p:cNvSpPr>
          <p:nvPr>
            <p:ph type="ctrTitle" hasCustomPrompt="1"/>
          </p:nvPr>
        </p:nvSpPr>
        <p:spPr>
          <a:xfrm>
            <a:off x="660400" y="1089026"/>
            <a:ext cx="9992078" cy="931100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>
              <a:lnSpc>
                <a:spcPct val="100000"/>
              </a:lnSpc>
              <a:defRPr sz="4400">
                <a:ln w="19050">
                  <a:noFill/>
                </a:ln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sz="quarter" idx="1" hasCustomPrompt="1"/>
          </p:nvPr>
        </p:nvSpPr>
        <p:spPr>
          <a:xfrm>
            <a:off x="660400" y="2043524"/>
            <a:ext cx="6978650" cy="730664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vert="horz" wrap="square" lIns="91440" tIns="45720" rIns="91440" bIns="45720" rtlCol="0" anchor="t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lang="en-US" sz="20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749300" y="3054076"/>
            <a:ext cx="1701801" cy="276999"/>
          </a:xfrm>
          <a:prstGeom prst="rect">
            <a:avLst/>
          </a:prstGeom>
          <a:solidFill>
            <a:schemeClr val="accent1"/>
          </a:solidFill>
        </p:spPr>
        <p:txBody>
          <a:bodyPr wrap="square" lIns="90000" anchor="ctr" anchorCtr="1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2673349" y="3054076"/>
            <a:ext cx="1701801" cy="276999"/>
          </a:xfrm>
          <a:prstGeom prst="rect">
            <a:avLst/>
          </a:prstGeom>
          <a:solidFill>
            <a:schemeClr val="accent1">
              <a:alpha val="20000"/>
            </a:schemeClr>
          </a:solidFill>
        </p:spPr>
        <p:txBody>
          <a:bodyPr wrap="none" anchor="ctr" anchorCtr="1">
            <a:normAutofit/>
          </a:bodyPr>
          <a:lstStyle>
            <a:lvl1pPr marL="0" indent="0" algn="l">
              <a:lnSpc>
                <a:spcPct val="100000"/>
              </a:lnSpc>
              <a:buNone/>
              <a:defRPr sz="1200"/>
            </a:lvl1pPr>
          </a:lstStyle>
          <a:p>
            <a:pPr lvl="0"/>
            <a:r>
              <a:rPr lang="en-US"/>
              <a:t>www.officeplus.cn</a:t>
            </a:r>
          </a:p>
        </p:txBody>
      </p:sp>
    </p:spTree>
    <p:extLst>
      <p:ext uri="{BB962C8B-B14F-4D97-AF65-F5344CB8AC3E}">
        <p14:creationId xmlns:p14="http://schemas.microsoft.com/office/powerpoint/2010/main" val="34450248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>
          <a:xfrm>
            <a:off x="660400" y="0"/>
            <a:ext cx="10858500" cy="1028700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60400" y="1092200"/>
            <a:ext cx="10858500" cy="5041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/>
            </a:lvl1pPr>
            <a:lvl2pPr marL="742950" indent="-285750"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43B38-FCD2-4D0A-90BC-740ACC77290F}" type="datetime1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f-ZA" altLang="zh-CN"/>
              <a:t>OfficePLUS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87212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F382D769-C366-BC44-5FF8-29FD435608A8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56ACD82-1AD0-B673-03DE-091809921689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0">
              <a:blip r:embed="rId2"/>
              <a:srcRect/>
              <a:stretch>
                <a:fillRect t="-15120" b="-9260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lvl="0" algn="ctr"/>
              <a:endParaRPr lang="zh-CN" alt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C3BDADE-532E-35CD-5FA5-28BF34282A41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>
          <a:xfrm>
            <a:off x="660400" y="1500188"/>
            <a:ext cx="2836800" cy="914400"/>
          </a:xfrm>
          <a:prstGeom prst="rect">
            <a:avLst/>
          </a:prstGeom>
        </p:spPr>
        <p:txBody>
          <a:bodyPr wrap="none" anchor="t">
            <a:normAutofit/>
          </a:bodyPr>
          <a:lstStyle>
            <a:lvl1pPr algn="r">
              <a:lnSpc>
                <a:spcPct val="100000"/>
              </a:lnSpc>
              <a:defRPr sz="2800"/>
            </a:lvl1pPr>
          </a:lstStyle>
          <a:p>
            <a:pPr lvl="0"/>
            <a:r>
              <a:rPr lang="en-US"/>
              <a:t>Agenda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 hasCustomPrompt="1"/>
          </p:nvPr>
        </p:nvSpPr>
        <p:spPr>
          <a:xfrm>
            <a:off x="3746500" y="1500187"/>
            <a:ext cx="7772400" cy="4633200"/>
          </a:xfrm>
          <a:prstGeom prst="rect">
            <a:avLst/>
          </a:prstGeom>
        </p:spPr>
        <p:txBody>
          <a:bodyPr wrap="square">
            <a:normAutofit/>
          </a:bodyPr>
          <a:lstStyle>
            <a:lvl1pPr marL="457200" indent="-457200">
              <a:lnSpc>
                <a:spcPct val="130000"/>
              </a:lnSpc>
              <a:buFont typeface="+mj-lt"/>
              <a:buAutoNum type="arabicPeriod"/>
              <a:defRPr sz="2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7A813-B2FD-42E1-9222-83B574E99074}" type="datetime1">
              <a:rPr lang="zh-CN" altLang="en-US" smtClean="0"/>
              <a:t>2026/4/23</a:t>
            </a:fld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f-ZA" altLang="zh-CN"/>
              <a:t>OfficePLUS</a:t>
            </a: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grpSp>
        <p:nvGrpSpPr>
          <p:cNvPr id="10" name="Group 9"/>
          <p:cNvGrpSpPr/>
          <p:nvPr/>
        </p:nvGrpSpPr>
        <p:grpSpPr>
          <a:xfrm>
            <a:off x="2626456" y="1500188"/>
            <a:ext cx="994563" cy="4634686"/>
            <a:chOff x="2626456" y="1500188"/>
            <a:chExt cx="994563" cy="4634686"/>
          </a:xfrm>
        </p:grpSpPr>
        <p:cxnSp>
          <p:nvCxnSpPr>
            <p:cNvPr id="12" name="Straight Connector 11"/>
            <p:cNvCxnSpPr>
              <a:cxnSpLocks/>
            </p:cNvCxnSpPr>
            <p:nvPr/>
          </p:nvCxnSpPr>
          <p:spPr>
            <a:xfrm>
              <a:off x="3621019" y="1500188"/>
              <a:ext cx="0" cy="4633913"/>
            </a:xfrm>
            <a:prstGeom prst="line">
              <a:avLst/>
            </a:prstGeom>
            <a:solidFill>
              <a:srgbClr val="FFCC00"/>
            </a:solidFill>
            <a:ln w="3175" cap="flat" cmpd="sng" algn="ctr">
              <a:solidFill>
                <a:schemeClr val="tx1">
                  <a:alpha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3" name="Freeform: Shape 12"/>
            <p:cNvSpPr>
              <a:spLocks noChangeAspect="1"/>
            </p:cNvSpPr>
            <p:nvPr/>
          </p:nvSpPr>
          <p:spPr bwMode="auto">
            <a:xfrm>
              <a:off x="2626456" y="5219207"/>
              <a:ext cx="870506" cy="915667"/>
            </a:xfrm>
            <a:custGeom>
              <a:avLst/>
              <a:gdLst>
                <a:gd name="T0" fmla="*/ 3353 w 5127"/>
                <a:gd name="T1" fmla="*/ 1728 h 5401"/>
                <a:gd name="T2" fmla="*/ 2183 w 5127"/>
                <a:gd name="T3" fmla="*/ 1608 h 5401"/>
                <a:gd name="T4" fmla="*/ 3353 w 5127"/>
                <a:gd name="T5" fmla="*/ 1488 h 5401"/>
                <a:gd name="T6" fmla="*/ 3103 w 5127"/>
                <a:gd name="T7" fmla="*/ 2231 h 5401"/>
                <a:gd name="T8" fmla="*/ 3103 w 5127"/>
                <a:gd name="T9" fmla="*/ 1991 h 5401"/>
                <a:gd name="T10" fmla="*/ 2432 w 5127"/>
                <a:gd name="T11" fmla="*/ 2111 h 5401"/>
                <a:gd name="T12" fmla="*/ 3103 w 5127"/>
                <a:gd name="T13" fmla="*/ 2231 h 5401"/>
                <a:gd name="T14" fmla="*/ 3353 w 5127"/>
                <a:gd name="T15" fmla="*/ 2648 h 5401"/>
                <a:gd name="T16" fmla="*/ 2183 w 5127"/>
                <a:gd name="T17" fmla="*/ 2768 h 5401"/>
                <a:gd name="T18" fmla="*/ 3353 w 5127"/>
                <a:gd name="T19" fmla="*/ 2888 h 5401"/>
                <a:gd name="T20" fmla="*/ 2552 w 5127"/>
                <a:gd name="T21" fmla="*/ 3151 h 5401"/>
                <a:gd name="T22" fmla="*/ 2552 w 5127"/>
                <a:gd name="T23" fmla="*/ 3391 h 5401"/>
                <a:gd name="T24" fmla="*/ 3223 w 5127"/>
                <a:gd name="T25" fmla="*/ 3271 h 5401"/>
                <a:gd name="T26" fmla="*/ 2552 w 5127"/>
                <a:gd name="T27" fmla="*/ 3151 h 5401"/>
                <a:gd name="T28" fmla="*/ 4448 w 5127"/>
                <a:gd name="T29" fmla="*/ 1442 h 5401"/>
                <a:gd name="T30" fmla="*/ 4688 w 5127"/>
                <a:gd name="T31" fmla="*/ 1442 h 5401"/>
                <a:gd name="T32" fmla="*/ 3988 w 5127"/>
                <a:gd name="T33" fmla="*/ 0 h 5401"/>
                <a:gd name="T34" fmla="*/ 0 w 5127"/>
                <a:gd name="T35" fmla="*/ 604 h 5401"/>
                <a:gd name="T36" fmla="*/ 120 w 5127"/>
                <a:gd name="T37" fmla="*/ 1792 h 5401"/>
                <a:gd name="T38" fmla="*/ 686 w 5127"/>
                <a:gd name="T39" fmla="*/ 1672 h 5401"/>
                <a:gd name="T40" fmla="*/ 240 w 5127"/>
                <a:gd name="T41" fmla="*/ 1552 h 5401"/>
                <a:gd name="T42" fmla="*/ 604 w 5127"/>
                <a:gd name="T43" fmla="*/ 240 h 5401"/>
                <a:gd name="T44" fmla="*/ 968 w 5127"/>
                <a:gd name="T45" fmla="*/ 4179 h 5401"/>
                <a:gd name="T46" fmla="*/ 3904 w 5127"/>
                <a:gd name="T47" fmla="*/ 4879 h 5401"/>
                <a:gd name="T48" fmla="*/ 3904 w 5127"/>
                <a:gd name="T49" fmla="*/ 4639 h 5401"/>
                <a:gd name="T50" fmla="*/ 1208 w 5127"/>
                <a:gd name="T51" fmla="*/ 4179 h 5401"/>
                <a:gd name="T52" fmla="*/ 1086 w 5127"/>
                <a:gd name="T53" fmla="*/ 240 h 5401"/>
                <a:gd name="T54" fmla="*/ 4448 w 5127"/>
                <a:gd name="T55" fmla="*/ 700 h 5401"/>
                <a:gd name="T56" fmla="*/ 4568 w 5127"/>
                <a:gd name="T57" fmla="*/ 2000 h 5401"/>
                <a:gd name="T58" fmla="*/ 4568 w 5127"/>
                <a:gd name="T59" fmla="*/ 2240 h 5401"/>
                <a:gd name="T60" fmla="*/ 4887 w 5127"/>
                <a:gd name="T61" fmla="*/ 2340 h 5401"/>
                <a:gd name="T62" fmla="*/ 5007 w 5127"/>
                <a:gd name="T63" fmla="*/ 3838 h 5401"/>
                <a:gd name="T64" fmla="*/ 5127 w 5127"/>
                <a:gd name="T65" fmla="*/ 2340 h 5401"/>
                <a:gd name="T66" fmla="*/ 4568 w 5127"/>
                <a:gd name="T67" fmla="*/ 5139 h 5401"/>
                <a:gd name="T68" fmla="*/ 4448 w 5127"/>
                <a:gd name="T69" fmla="*/ 5281 h 5401"/>
                <a:gd name="T70" fmla="*/ 4688 w 5127"/>
                <a:gd name="T71" fmla="*/ 5281 h 5401"/>
                <a:gd name="T72" fmla="*/ 4568 w 5127"/>
                <a:gd name="T73" fmla="*/ 5139 h 5401"/>
                <a:gd name="T74" fmla="*/ 4448 w 5127"/>
                <a:gd name="T75" fmla="*/ 2559 h 5401"/>
                <a:gd name="T76" fmla="*/ 4568 w 5127"/>
                <a:gd name="T77" fmla="*/ 4974 h 5401"/>
                <a:gd name="T78" fmla="*/ 4688 w 5127"/>
                <a:gd name="T79" fmla="*/ 2559 h 5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127" h="5401">
                  <a:moveTo>
                    <a:pt x="3473" y="1608"/>
                  </a:moveTo>
                  <a:cubicBezTo>
                    <a:pt x="3473" y="1674"/>
                    <a:pt x="3419" y="1728"/>
                    <a:pt x="3353" y="1728"/>
                  </a:cubicBezTo>
                  <a:lnTo>
                    <a:pt x="2303" y="1728"/>
                  </a:lnTo>
                  <a:cubicBezTo>
                    <a:pt x="2236" y="1728"/>
                    <a:pt x="2183" y="1674"/>
                    <a:pt x="2183" y="1608"/>
                  </a:cubicBezTo>
                  <a:cubicBezTo>
                    <a:pt x="2183" y="1542"/>
                    <a:pt x="2236" y="1488"/>
                    <a:pt x="2303" y="1488"/>
                  </a:cubicBezTo>
                  <a:lnTo>
                    <a:pt x="3353" y="1488"/>
                  </a:lnTo>
                  <a:cubicBezTo>
                    <a:pt x="3419" y="1488"/>
                    <a:pt x="3473" y="1542"/>
                    <a:pt x="3473" y="1608"/>
                  </a:cubicBezTo>
                  <a:close/>
                  <a:moveTo>
                    <a:pt x="3103" y="2231"/>
                  </a:moveTo>
                  <a:cubicBezTo>
                    <a:pt x="3170" y="2231"/>
                    <a:pt x="3223" y="2178"/>
                    <a:pt x="3223" y="2111"/>
                  </a:cubicBezTo>
                  <a:cubicBezTo>
                    <a:pt x="3223" y="2045"/>
                    <a:pt x="3170" y="1991"/>
                    <a:pt x="3103" y="1991"/>
                  </a:cubicBezTo>
                  <a:lnTo>
                    <a:pt x="2552" y="1991"/>
                  </a:lnTo>
                  <a:cubicBezTo>
                    <a:pt x="2486" y="1991"/>
                    <a:pt x="2432" y="2045"/>
                    <a:pt x="2432" y="2111"/>
                  </a:cubicBezTo>
                  <a:cubicBezTo>
                    <a:pt x="2432" y="2178"/>
                    <a:pt x="2486" y="2231"/>
                    <a:pt x="2552" y="2231"/>
                  </a:cubicBezTo>
                  <a:lnTo>
                    <a:pt x="3103" y="2231"/>
                  </a:lnTo>
                  <a:close/>
                  <a:moveTo>
                    <a:pt x="3473" y="2768"/>
                  </a:moveTo>
                  <a:cubicBezTo>
                    <a:pt x="3473" y="2701"/>
                    <a:pt x="3419" y="2648"/>
                    <a:pt x="3353" y="2648"/>
                  </a:cubicBezTo>
                  <a:lnTo>
                    <a:pt x="2303" y="2648"/>
                  </a:lnTo>
                  <a:cubicBezTo>
                    <a:pt x="2236" y="2648"/>
                    <a:pt x="2183" y="2701"/>
                    <a:pt x="2183" y="2768"/>
                  </a:cubicBezTo>
                  <a:cubicBezTo>
                    <a:pt x="2183" y="2834"/>
                    <a:pt x="2236" y="2888"/>
                    <a:pt x="2303" y="2888"/>
                  </a:cubicBezTo>
                  <a:lnTo>
                    <a:pt x="3353" y="2888"/>
                  </a:lnTo>
                  <a:cubicBezTo>
                    <a:pt x="3419" y="2888"/>
                    <a:pt x="3473" y="2834"/>
                    <a:pt x="3473" y="2768"/>
                  </a:cubicBezTo>
                  <a:close/>
                  <a:moveTo>
                    <a:pt x="2552" y="3151"/>
                  </a:moveTo>
                  <a:cubicBezTo>
                    <a:pt x="2486" y="3151"/>
                    <a:pt x="2432" y="3205"/>
                    <a:pt x="2432" y="3271"/>
                  </a:cubicBezTo>
                  <a:cubicBezTo>
                    <a:pt x="2432" y="3338"/>
                    <a:pt x="2486" y="3391"/>
                    <a:pt x="2552" y="3391"/>
                  </a:cubicBezTo>
                  <a:lnTo>
                    <a:pt x="3103" y="3391"/>
                  </a:lnTo>
                  <a:cubicBezTo>
                    <a:pt x="3170" y="3391"/>
                    <a:pt x="3223" y="3338"/>
                    <a:pt x="3223" y="3271"/>
                  </a:cubicBezTo>
                  <a:cubicBezTo>
                    <a:pt x="3223" y="3205"/>
                    <a:pt x="3170" y="3151"/>
                    <a:pt x="3103" y="3151"/>
                  </a:cubicBezTo>
                  <a:lnTo>
                    <a:pt x="2552" y="3151"/>
                  </a:lnTo>
                  <a:close/>
                  <a:moveTo>
                    <a:pt x="4448" y="700"/>
                  </a:moveTo>
                  <a:lnTo>
                    <a:pt x="4448" y="1442"/>
                  </a:lnTo>
                  <a:cubicBezTo>
                    <a:pt x="4448" y="1509"/>
                    <a:pt x="4501" y="1562"/>
                    <a:pt x="4568" y="1562"/>
                  </a:cubicBezTo>
                  <a:cubicBezTo>
                    <a:pt x="4634" y="1562"/>
                    <a:pt x="4688" y="1509"/>
                    <a:pt x="4688" y="1442"/>
                  </a:cubicBezTo>
                  <a:lnTo>
                    <a:pt x="4688" y="700"/>
                  </a:lnTo>
                  <a:cubicBezTo>
                    <a:pt x="4688" y="314"/>
                    <a:pt x="4374" y="0"/>
                    <a:pt x="3988" y="0"/>
                  </a:cubicBezTo>
                  <a:lnTo>
                    <a:pt x="604" y="0"/>
                  </a:lnTo>
                  <a:cubicBezTo>
                    <a:pt x="271" y="0"/>
                    <a:pt x="0" y="271"/>
                    <a:pt x="0" y="604"/>
                  </a:cubicBezTo>
                  <a:lnTo>
                    <a:pt x="0" y="1672"/>
                  </a:lnTo>
                  <a:cubicBezTo>
                    <a:pt x="0" y="1738"/>
                    <a:pt x="53" y="1792"/>
                    <a:pt x="120" y="1792"/>
                  </a:cubicBezTo>
                  <a:lnTo>
                    <a:pt x="566" y="1792"/>
                  </a:lnTo>
                  <a:cubicBezTo>
                    <a:pt x="632" y="1792"/>
                    <a:pt x="686" y="1738"/>
                    <a:pt x="686" y="1672"/>
                  </a:cubicBezTo>
                  <a:cubicBezTo>
                    <a:pt x="686" y="1606"/>
                    <a:pt x="632" y="1552"/>
                    <a:pt x="566" y="1552"/>
                  </a:cubicBezTo>
                  <a:lnTo>
                    <a:pt x="240" y="1552"/>
                  </a:lnTo>
                  <a:lnTo>
                    <a:pt x="240" y="604"/>
                  </a:lnTo>
                  <a:cubicBezTo>
                    <a:pt x="240" y="403"/>
                    <a:pt x="403" y="240"/>
                    <a:pt x="604" y="240"/>
                  </a:cubicBezTo>
                  <a:cubicBezTo>
                    <a:pt x="805" y="240"/>
                    <a:pt x="968" y="403"/>
                    <a:pt x="968" y="604"/>
                  </a:cubicBezTo>
                  <a:lnTo>
                    <a:pt x="968" y="4179"/>
                  </a:lnTo>
                  <a:cubicBezTo>
                    <a:pt x="968" y="4565"/>
                    <a:pt x="1282" y="4879"/>
                    <a:pt x="1668" y="4879"/>
                  </a:cubicBezTo>
                  <a:lnTo>
                    <a:pt x="3904" y="4879"/>
                  </a:lnTo>
                  <a:cubicBezTo>
                    <a:pt x="3970" y="4879"/>
                    <a:pt x="4024" y="4825"/>
                    <a:pt x="4024" y="4759"/>
                  </a:cubicBezTo>
                  <a:cubicBezTo>
                    <a:pt x="4024" y="4693"/>
                    <a:pt x="3970" y="4639"/>
                    <a:pt x="3904" y="4639"/>
                  </a:cubicBezTo>
                  <a:lnTo>
                    <a:pt x="1668" y="4639"/>
                  </a:lnTo>
                  <a:cubicBezTo>
                    <a:pt x="1415" y="4639"/>
                    <a:pt x="1208" y="4433"/>
                    <a:pt x="1208" y="4179"/>
                  </a:cubicBezTo>
                  <a:lnTo>
                    <a:pt x="1208" y="604"/>
                  </a:lnTo>
                  <a:cubicBezTo>
                    <a:pt x="1208" y="468"/>
                    <a:pt x="1163" y="341"/>
                    <a:pt x="1086" y="240"/>
                  </a:cubicBezTo>
                  <a:lnTo>
                    <a:pt x="3988" y="240"/>
                  </a:lnTo>
                  <a:cubicBezTo>
                    <a:pt x="4241" y="240"/>
                    <a:pt x="4448" y="446"/>
                    <a:pt x="4448" y="700"/>
                  </a:cubicBezTo>
                  <a:close/>
                  <a:moveTo>
                    <a:pt x="4787" y="2000"/>
                  </a:moveTo>
                  <a:lnTo>
                    <a:pt x="4568" y="2000"/>
                  </a:lnTo>
                  <a:cubicBezTo>
                    <a:pt x="4501" y="2000"/>
                    <a:pt x="4448" y="2054"/>
                    <a:pt x="4448" y="2120"/>
                  </a:cubicBezTo>
                  <a:cubicBezTo>
                    <a:pt x="4448" y="2187"/>
                    <a:pt x="4501" y="2240"/>
                    <a:pt x="4568" y="2240"/>
                  </a:cubicBezTo>
                  <a:lnTo>
                    <a:pt x="4787" y="2240"/>
                  </a:lnTo>
                  <a:cubicBezTo>
                    <a:pt x="4842" y="2240"/>
                    <a:pt x="4887" y="2285"/>
                    <a:pt x="4887" y="2340"/>
                  </a:cubicBezTo>
                  <a:lnTo>
                    <a:pt x="4887" y="3718"/>
                  </a:lnTo>
                  <a:cubicBezTo>
                    <a:pt x="4887" y="3785"/>
                    <a:pt x="4941" y="3838"/>
                    <a:pt x="5007" y="3838"/>
                  </a:cubicBezTo>
                  <a:cubicBezTo>
                    <a:pt x="5073" y="3838"/>
                    <a:pt x="5127" y="3785"/>
                    <a:pt x="5127" y="3718"/>
                  </a:cubicBezTo>
                  <a:lnTo>
                    <a:pt x="5127" y="2340"/>
                  </a:lnTo>
                  <a:cubicBezTo>
                    <a:pt x="5127" y="2153"/>
                    <a:pt x="4975" y="2000"/>
                    <a:pt x="4787" y="2000"/>
                  </a:cubicBezTo>
                  <a:close/>
                  <a:moveTo>
                    <a:pt x="4568" y="5139"/>
                  </a:moveTo>
                  <a:cubicBezTo>
                    <a:pt x="4501" y="5139"/>
                    <a:pt x="4448" y="5193"/>
                    <a:pt x="4448" y="5259"/>
                  </a:cubicBezTo>
                  <a:lnTo>
                    <a:pt x="4448" y="5281"/>
                  </a:lnTo>
                  <a:cubicBezTo>
                    <a:pt x="4448" y="5347"/>
                    <a:pt x="4501" y="5401"/>
                    <a:pt x="4568" y="5401"/>
                  </a:cubicBezTo>
                  <a:cubicBezTo>
                    <a:pt x="4634" y="5401"/>
                    <a:pt x="4688" y="5347"/>
                    <a:pt x="4688" y="5281"/>
                  </a:cubicBezTo>
                  <a:lnTo>
                    <a:pt x="4688" y="5259"/>
                  </a:lnTo>
                  <a:cubicBezTo>
                    <a:pt x="4688" y="5193"/>
                    <a:pt x="4634" y="5139"/>
                    <a:pt x="4568" y="5139"/>
                  </a:cubicBezTo>
                  <a:close/>
                  <a:moveTo>
                    <a:pt x="4568" y="2439"/>
                  </a:moveTo>
                  <a:cubicBezTo>
                    <a:pt x="4501" y="2439"/>
                    <a:pt x="4448" y="2492"/>
                    <a:pt x="4448" y="2559"/>
                  </a:cubicBezTo>
                  <a:lnTo>
                    <a:pt x="4448" y="4854"/>
                  </a:lnTo>
                  <a:cubicBezTo>
                    <a:pt x="4448" y="4920"/>
                    <a:pt x="4501" y="4974"/>
                    <a:pt x="4568" y="4974"/>
                  </a:cubicBezTo>
                  <a:cubicBezTo>
                    <a:pt x="4634" y="4974"/>
                    <a:pt x="4688" y="4920"/>
                    <a:pt x="4688" y="4854"/>
                  </a:cubicBezTo>
                  <a:lnTo>
                    <a:pt x="4688" y="2559"/>
                  </a:lnTo>
                  <a:cubicBezTo>
                    <a:pt x="4688" y="2492"/>
                    <a:pt x="4634" y="2439"/>
                    <a:pt x="4568" y="2439"/>
                  </a:cubicBezTo>
                  <a:close/>
                </a:path>
              </a:pathLst>
            </a:custGeom>
            <a:solidFill>
              <a:schemeClr val="tx1">
                <a:alpha val="1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694168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65A88BF-0B25-E110-BDEF-8E084A76DDDA}"/>
              </a:ext>
            </a:extLst>
          </p:cNvPr>
          <p:cNvGrpSpPr/>
          <p:nvPr/>
        </p:nvGrpSpPr>
        <p:grpSpPr>
          <a:xfrm flipH="1">
            <a:off x="0" y="1843087"/>
            <a:ext cx="12192000" cy="5014913"/>
            <a:chOff x="0" y="1843087"/>
            <a:chExt cx="12192000" cy="5014913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7DDD957F-1CB5-66E5-4F45-B688FC1886C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2205037"/>
              <a:ext cx="12192000" cy="4652963"/>
            </a:xfrm>
            <a:custGeom>
              <a:avLst/>
              <a:gdLst>
                <a:gd name="T0" fmla="*/ 0 w 7680"/>
                <a:gd name="T1" fmla="*/ 2931 h 2931"/>
                <a:gd name="T2" fmla="*/ 7680 w 7680"/>
                <a:gd name="T3" fmla="*/ 2931 h 2931"/>
                <a:gd name="T4" fmla="*/ 7680 w 7680"/>
                <a:gd name="T5" fmla="*/ 0 h 2931"/>
                <a:gd name="T6" fmla="*/ 0 w 7680"/>
                <a:gd name="T7" fmla="*/ 2020 h 2931"/>
                <a:gd name="T8" fmla="*/ 0 w 7680"/>
                <a:gd name="T9" fmla="*/ 2931 h 2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680" h="2931">
                  <a:moveTo>
                    <a:pt x="0" y="2931"/>
                  </a:moveTo>
                  <a:lnTo>
                    <a:pt x="7680" y="2931"/>
                  </a:lnTo>
                  <a:lnTo>
                    <a:pt x="7680" y="0"/>
                  </a:lnTo>
                  <a:lnTo>
                    <a:pt x="0" y="2020"/>
                  </a:lnTo>
                  <a:lnTo>
                    <a:pt x="0" y="2931"/>
                  </a:lnTo>
                  <a:close/>
                </a:path>
              </a:pathLst>
            </a:custGeom>
            <a:blipFill rotWithShape="0">
              <a:blip r:embed="rId2"/>
              <a:srcRect/>
              <a:stretch>
                <a:fillRect t="-46080" b="-37430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zh-CN" altLang="en-US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335521FB-5B07-D044-C065-74EF9F4B4679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843087"/>
              <a:ext cx="12192000" cy="3568700"/>
            </a:xfrm>
            <a:custGeom>
              <a:avLst/>
              <a:gdLst>
                <a:gd name="T0" fmla="*/ 0 w 7680"/>
                <a:gd name="T1" fmla="*/ 2020 h 2248"/>
                <a:gd name="T2" fmla="*/ 0 w 7680"/>
                <a:gd name="T3" fmla="*/ 2248 h 2248"/>
                <a:gd name="T4" fmla="*/ 7680 w 7680"/>
                <a:gd name="T5" fmla="*/ 228 h 2248"/>
                <a:gd name="T6" fmla="*/ 7680 w 7680"/>
                <a:gd name="T7" fmla="*/ 0 h 2248"/>
                <a:gd name="T8" fmla="*/ 0 w 7680"/>
                <a:gd name="T9" fmla="*/ 2020 h 2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680" h="2248">
                  <a:moveTo>
                    <a:pt x="0" y="2020"/>
                  </a:moveTo>
                  <a:lnTo>
                    <a:pt x="0" y="2248"/>
                  </a:lnTo>
                  <a:lnTo>
                    <a:pt x="7680" y="228"/>
                  </a:lnTo>
                  <a:lnTo>
                    <a:pt x="7680" y="0"/>
                  </a:lnTo>
                  <a:lnTo>
                    <a:pt x="0" y="202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F18B8AB-6D5D-6624-E8E5-E1EA043ED55B}"/>
                </a:ext>
              </a:extLst>
            </p:cNvPr>
            <p:cNvSpPr/>
            <p:nvPr/>
          </p:nvSpPr>
          <p:spPr>
            <a:xfrm>
              <a:off x="10652478" y="2020126"/>
              <a:ext cx="866422" cy="4837874"/>
            </a:xfrm>
            <a:custGeom>
              <a:avLst/>
              <a:gdLst>
                <a:gd name="connsiteX0" fmla="*/ 866422 w 866422"/>
                <a:gd name="connsiteY0" fmla="*/ 0 h 4837874"/>
                <a:gd name="connsiteX1" fmla="*/ 866422 w 866422"/>
                <a:gd name="connsiteY1" fmla="*/ 4837874 h 4837874"/>
                <a:gd name="connsiteX2" fmla="*/ 0 w 866422"/>
                <a:gd name="connsiteY2" fmla="*/ 4837874 h 4837874"/>
                <a:gd name="connsiteX3" fmla="*/ 0 w 866422"/>
                <a:gd name="connsiteY3" fmla="*/ 227888 h 4837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6422" h="4837874">
                  <a:moveTo>
                    <a:pt x="866422" y="0"/>
                  </a:moveTo>
                  <a:lnTo>
                    <a:pt x="866422" y="4837874"/>
                  </a:lnTo>
                  <a:lnTo>
                    <a:pt x="0" y="4837874"/>
                  </a:lnTo>
                  <a:lnTo>
                    <a:pt x="0" y="227888"/>
                  </a:lnTo>
                  <a:close/>
                </a:path>
              </a:pathLst>
            </a:custGeom>
            <a:gradFill>
              <a:gsLst>
                <a:gs pos="100000">
                  <a:schemeClr val="accent1">
                    <a:alpha val="0"/>
                  </a:schemeClr>
                </a:gs>
                <a:gs pos="0">
                  <a:schemeClr val="accent1">
                    <a:alpha val="7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5897179" y="1100901"/>
            <a:ext cx="5621721" cy="1484371"/>
          </a:xfrm>
          <a:prstGeom prst="rect">
            <a:avLst/>
          </a:prstGeom>
        </p:spPr>
        <p:txBody>
          <a:bodyPr>
            <a:normAutofit/>
          </a:bodyPr>
          <a:lstStyle>
            <a:lvl1pPr algn="r">
              <a:lnSpc>
                <a:spcPct val="100000"/>
              </a:lnSpc>
              <a:defRPr sz="320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" hasCustomPrompt="1"/>
          </p:nvPr>
        </p:nvSpPr>
        <p:spPr>
          <a:xfrm>
            <a:off x="5897179" y="2597126"/>
            <a:ext cx="5621721" cy="120115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r">
              <a:lnSpc>
                <a:spcPct val="120000"/>
              </a:lnSpc>
              <a:buFont typeface="+mj-lt"/>
              <a:buNone/>
              <a:defRPr sz="20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7A813-B2FD-42E1-9222-83B574E99074}" type="datetime1">
              <a:rPr lang="zh-CN" altLang="en-US" smtClean="0"/>
              <a:t>2026/4/23</a:t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f-ZA" altLang="zh-CN"/>
              <a:t>OfficePLUS</a:t>
            </a:r>
            <a:endParaRPr lang="zh-CN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764273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660399" y="0"/>
            <a:ext cx="10858500" cy="1028700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978B1-822A-48DD-9412-1B7D6807ED91}" type="datetime1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f-ZA" altLang="zh-CN"/>
              <a:t>OfficePLUS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21211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3D36A-0885-4071-9EF1-0FE4286E17CF}" type="datetime1">
              <a:rPr lang="zh-CN" altLang="en-US" smtClean="0"/>
              <a:t>2026/4/23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OfficePLUS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2860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97A72C7-381C-2E0A-4F79-E05F4AAE6016}"/>
              </a:ext>
            </a:extLst>
          </p:cNvPr>
          <p:cNvGrpSpPr/>
          <p:nvPr/>
        </p:nvGrpSpPr>
        <p:grpSpPr>
          <a:xfrm>
            <a:off x="0" y="1843087"/>
            <a:ext cx="12192000" cy="5014913"/>
            <a:chOff x="0" y="1843087"/>
            <a:chExt cx="12192000" cy="5014913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D3FE23B5-D242-FE64-9D5E-CD03BFEB0CE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2205037"/>
              <a:ext cx="12192000" cy="4652963"/>
            </a:xfrm>
            <a:custGeom>
              <a:avLst/>
              <a:gdLst>
                <a:gd name="T0" fmla="*/ 0 w 7680"/>
                <a:gd name="T1" fmla="*/ 2931 h 2931"/>
                <a:gd name="T2" fmla="*/ 7680 w 7680"/>
                <a:gd name="T3" fmla="*/ 2931 h 2931"/>
                <a:gd name="T4" fmla="*/ 7680 w 7680"/>
                <a:gd name="T5" fmla="*/ 0 h 2931"/>
                <a:gd name="T6" fmla="*/ 0 w 7680"/>
                <a:gd name="T7" fmla="*/ 2020 h 2931"/>
                <a:gd name="T8" fmla="*/ 0 w 7680"/>
                <a:gd name="T9" fmla="*/ 2931 h 2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680" h="2931">
                  <a:moveTo>
                    <a:pt x="0" y="2931"/>
                  </a:moveTo>
                  <a:lnTo>
                    <a:pt x="7680" y="2931"/>
                  </a:lnTo>
                  <a:lnTo>
                    <a:pt x="7680" y="0"/>
                  </a:lnTo>
                  <a:lnTo>
                    <a:pt x="0" y="2020"/>
                  </a:lnTo>
                  <a:lnTo>
                    <a:pt x="0" y="2931"/>
                  </a:lnTo>
                  <a:close/>
                </a:path>
              </a:pathLst>
            </a:custGeom>
            <a:blipFill rotWithShape="0">
              <a:blip r:embed="rId2"/>
              <a:srcRect/>
              <a:stretch>
                <a:fillRect t="-46080" b="-37430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zh-CN" altLang="en-US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CD2293A1-D153-8E90-BFF7-09A79EDF818B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843087"/>
              <a:ext cx="12192000" cy="3568700"/>
            </a:xfrm>
            <a:custGeom>
              <a:avLst/>
              <a:gdLst>
                <a:gd name="T0" fmla="*/ 0 w 7680"/>
                <a:gd name="T1" fmla="*/ 2020 h 2248"/>
                <a:gd name="T2" fmla="*/ 0 w 7680"/>
                <a:gd name="T3" fmla="*/ 2248 h 2248"/>
                <a:gd name="T4" fmla="*/ 7680 w 7680"/>
                <a:gd name="T5" fmla="*/ 228 h 2248"/>
                <a:gd name="T6" fmla="*/ 7680 w 7680"/>
                <a:gd name="T7" fmla="*/ 0 h 2248"/>
                <a:gd name="T8" fmla="*/ 0 w 7680"/>
                <a:gd name="T9" fmla="*/ 2020 h 2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680" h="2248">
                  <a:moveTo>
                    <a:pt x="0" y="2020"/>
                  </a:moveTo>
                  <a:lnTo>
                    <a:pt x="0" y="2248"/>
                  </a:lnTo>
                  <a:lnTo>
                    <a:pt x="7680" y="228"/>
                  </a:lnTo>
                  <a:lnTo>
                    <a:pt x="7680" y="0"/>
                  </a:lnTo>
                  <a:lnTo>
                    <a:pt x="0" y="202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F6FFD62A-78B5-2272-3727-C9728AD9D973}"/>
                </a:ext>
              </a:extLst>
            </p:cNvPr>
            <p:cNvSpPr/>
            <p:nvPr/>
          </p:nvSpPr>
          <p:spPr>
            <a:xfrm>
              <a:off x="10652478" y="2020126"/>
              <a:ext cx="866422" cy="4837874"/>
            </a:xfrm>
            <a:custGeom>
              <a:avLst/>
              <a:gdLst>
                <a:gd name="connsiteX0" fmla="*/ 866422 w 866422"/>
                <a:gd name="connsiteY0" fmla="*/ 0 h 4837874"/>
                <a:gd name="connsiteX1" fmla="*/ 866422 w 866422"/>
                <a:gd name="connsiteY1" fmla="*/ 4837874 h 4837874"/>
                <a:gd name="connsiteX2" fmla="*/ 0 w 866422"/>
                <a:gd name="connsiteY2" fmla="*/ 4837874 h 4837874"/>
                <a:gd name="connsiteX3" fmla="*/ 0 w 866422"/>
                <a:gd name="connsiteY3" fmla="*/ 227888 h 4837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6422" h="4837874">
                  <a:moveTo>
                    <a:pt x="866422" y="0"/>
                  </a:moveTo>
                  <a:lnTo>
                    <a:pt x="866422" y="4837874"/>
                  </a:lnTo>
                  <a:lnTo>
                    <a:pt x="0" y="4837874"/>
                  </a:lnTo>
                  <a:lnTo>
                    <a:pt x="0" y="227888"/>
                  </a:lnTo>
                  <a:close/>
                </a:path>
              </a:pathLst>
            </a:custGeom>
            <a:gradFill>
              <a:gsLst>
                <a:gs pos="100000">
                  <a:schemeClr val="accent1">
                    <a:alpha val="0"/>
                  </a:schemeClr>
                </a:gs>
                <a:gs pos="0">
                  <a:schemeClr val="accent1">
                    <a:alpha val="7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660400" y="1089025"/>
            <a:ext cx="8572090" cy="1565686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6000">
                <a:ln w="19050">
                  <a:noFill/>
                </a:ln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2547257" y="2962032"/>
            <a:ext cx="1698670" cy="276999"/>
          </a:xfrm>
          <a:prstGeom prst="rect">
            <a:avLst/>
          </a:prstGeom>
          <a:solidFill>
            <a:schemeClr val="accent1">
              <a:alpha val="20000"/>
            </a:schemeClr>
          </a:solidFill>
        </p:spPr>
        <p:txBody>
          <a:bodyPr wrap="square" lIns="90000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2962223"/>
            <a:ext cx="1698670" cy="276999"/>
          </a:xfrm>
          <a:prstGeom prst="rect">
            <a:avLst/>
          </a:prstGeom>
          <a:solidFill>
            <a:schemeClr val="accent1"/>
          </a:solidFill>
        </p:spPr>
        <p:txBody>
          <a:bodyPr wrap="none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www.officeplus.cn</a:t>
            </a:r>
          </a:p>
        </p:txBody>
      </p:sp>
    </p:spTree>
    <p:extLst>
      <p:ext uri="{BB962C8B-B14F-4D97-AF65-F5344CB8AC3E}">
        <p14:creationId xmlns:p14="http://schemas.microsoft.com/office/powerpoint/2010/main" val="32109452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</a:t>
            </a:r>
            <a:r>
              <a:rPr lang="en-US" altLang="zh-CN" dirty="0"/>
              <a:t>add text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8AEBC5-1D0D-411D-9EE3-C6F41EFD080C}" type="datetime1">
              <a:rPr lang="zh-CN" altLang="en-US" smtClean="0"/>
              <a:t>2026/4/23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OfficePLUS</a:t>
            </a:r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JiangmingLater/-1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DF6A05-D963-FD17-04B7-77E2DB8212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olidFill>
                  <a:srgbClr val="111827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Noto Sans SC"/>
                <a:sym typeface="Noto Sans SC"/>
              </a:rPr>
              <a:t>牛——</a:t>
            </a:r>
            <a:r>
              <a:rPr lang="en-US" altLang="zh-CN" dirty="0" err="1">
                <a:solidFill>
                  <a:srgbClr val="111827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Noto Sans SC"/>
                <a:sym typeface="Noto Sans SC"/>
              </a:rPr>
              <a:t>从一幅画，变成一个字</a:t>
            </a:r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1AAE7D9-0969-9604-0601-8E45856C642F}"/>
              </a:ext>
            </a:extLst>
          </p:cNvPr>
          <p:cNvSpPr>
            <a:spLocks noGrp="1"/>
          </p:cNvSpPr>
          <p:nvPr>
            <p:ph type="subTitle" sz="quarter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zh-CN" altLang="zh-CN" sz="3200" b="1" dirty="0">
                <a:ln w="19050">
                  <a:noFill/>
                </a:ln>
                <a:solidFill>
                  <a:srgbClr val="111827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——汉字象形字演变介绍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624048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98EF2C-8E85-7E46-083E-4E2937098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410" y="77491"/>
            <a:ext cx="10248038" cy="898903"/>
          </a:xfrm>
        </p:spPr>
        <p:txBody>
          <a:bodyPr>
            <a:normAutofit/>
          </a:bodyPr>
          <a:lstStyle/>
          <a:p>
            <a:r>
              <a:rPr lang="zh-CN" altLang="en-US" sz="4400" dirty="0">
                <a:latin typeface="楷体" panose="02010609060101010101" pitchFamily="49" charset="-122"/>
                <a:ea typeface="楷体" panose="02010609060101010101" pitchFamily="49" charset="-122"/>
              </a:rPr>
              <a:t>目录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E97F411-166D-8F69-5FE9-E06D5C519AD3}"/>
              </a:ext>
            </a:extLst>
          </p:cNvPr>
          <p:cNvSpPr txBox="1"/>
          <p:nvPr/>
        </p:nvSpPr>
        <p:spPr>
          <a:xfrm>
            <a:off x="821410" y="1139125"/>
            <a:ext cx="10104895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华文楷体" panose="02010600040101010101" pitchFamily="2" charset="-122"/>
                <a:ea typeface="华文楷体" panose="02010600040101010101" pitchFamily="2" charset="-122"/>
              </a:rPr>
              <a:t>一、</a:t>
            </a:r>
            <a:endParaRPr lang="en-US" altLang="zh-CN" sz="32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sz="32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	1.</a:t>
            </a:r>
            <a:r>
              <a:rPr lang="zh-CN" altLang="zh-CN" sz="3200" dirty="0">
                <a:latin typeface="华文楷体" panose="02010600040101010101" pitchFamily="2" charset="-122"/>
                <a:ea typeface="华文楷体" panose="02010600040101010101" pitchFamily="2" charset="-122"/>
              </a:rPr>
              <a:t>什么是象形字</a:t>
            </a:r>
            <a:r>
              <a:rPr lang="en-US" altLang="zh-CN" sz="32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</a:t>
            </a:r>
          </a:p>
          <a:p>
            <a:r>
              <a:rPr lang="en-US" altLang="zh-CN" sz="32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    2.</a:t>
            </a:r>
            <a:r>
              <a:rPr lang="zh-CN" altLang="zh-CN" sz="3200" dirty="0">
                <a:latin typeface="华文楷体" panose="02010600040101010101" pitchFamily="2" charset="-122"/>
                <a:ea typeface="华文楷体" panose="02010600040101010101" pitchFamily="2" charset="-122"/>
              </a:rPr>
              <a:t>甲骨文——画牛头</a:t>
            </a:r>
            <a:endParaRPr lang="en-US" altLang="zh-CN" sz="32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sz="3200" dirty="0">
                <a:latin typeface="华文楷体" panose="02010600040101010101" pitchFamily="2" charset="-122"/>
                <a:ea typeface="华文楷体" panose="02010600040101010101" pitchFamily="2" charset="-122"/>
              </a:rPr>
              <a:t>	3.</a:t>
            </a:r>
            <a:r>
              <a:rPr lang="zh-CN" altLang="zh-CN" sz="3200" dirty="0">
                <a:latin typeface="华文楷体" panose="02010600040101010101" pitchFamily="2" charset="-122"/>
                <a:ea typeface="华文楷体" panose="02010600040101010101" pitchFamily="2" charset="-122"/>
              </a:rPr>
              <a:t>金文、小篆——线条化</a:t>
            </a:r>
            <a:endParaRPr lang="en-US" altLang="zh-CN" sz="32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sz="3200" dirty="0">
                <a:latin typeface="华文楷体" panose="02010600040101010101" pitchFamily="2" charset="-122"/>
                <a:ea typeface="华文楷体" panose="02010600040101010101" pitchFamily="2" charset="-122"/>
              </a:rPr>
              <a:t>	4.</a:t>
            </a:r>
            <a:r>
              <a:rPr lang="zh-CN" altLang="zh-CN" sz="3200" dirty="0">
                <a:latin typeface="华文楷体" panose="02010600040101010101" pitchFamily="2" charset="-122"/>
                <a:ea typeface="华文楷体" panose="02010600040101010101" pitchFamily="2" charset="-122"/>
              </a:rPr>
              <a:t>隶书、楷书——变成今天的“牛”</a:t>
            </a:r>
            <a:endParaRPr lang="en-US" altLang="zh-CN" sz="32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sz="3200" dirty="0">
                <a:latin typeface="华文楷体" panose="02010600040101010101" pitchFamily="2" charset="-122"/>
                <a:ea typeface="华文楷体" panose="02010600040101010101" pitchFamily="2" charset="-122"/>
              </a:rPr>
              <a:t>	5.</a:t>
            </a:r>
            <a:r>
              <a:rPr lang="zh-CN" altLang="zh-CN" sz="3200" dirty="0">
                <a:latin typeface="华文楷体" panose="02010600040101010101" pitchFamily="2" charset="-122"/>
                <a:ea typeface="华文楷体" panose="02010600040101010101" pitchFamily="2" charset="-122"/>
              </a:rPr>
              <a:t>书、楷书——变成今天的“牛”</a:t>
            </a:r>
            <a:endParaRPr lang="en-US" altLang="zh-CN" sz="32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sz="3200" dirty="0">
                <a:latin typeface="华文楷体" panose="02010600040101010101" pitchFamily="2" charset="-122"/>
                <a:ea typeface="华文楷体" panose="02010600040101010101" pitchFamily="2" charset="-122"/>
              </a:rPr>
              <a:t>	6.</a:t>
            </a:r>
            <a:r>
              <a:rPr lang="zh-CN" altLang="zh-CN" sz="3200" dirty="0">
                <a:latin typeface="华文楷体" panose="02010600040101010101" pitchFamily="2" charset="-122"/>
                <a:ea typeface="华文楷体" panose="02010600040101010101" pitchFamily="2" charset="-122"/>
              </a:rPr>
              <a:t>总结</a:t>
            </a:r>
            <a:r>
              <a:rPr lang="zh-CN" altLang="en-US" sz="32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：汉字的演化</a:t>
            </a:r>
            <a:endParaRPr lang="en-US" altLang="zh-CN" sz="32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en-US" altLang="zh-CN" sz="32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3200" dirty="0">
                <a:latin typeface="华文楷体" panose="02010600040101010101" pitchFamily="2" charset="-122"/>
                <a:ea typeface="华文楷体" panose="02010600040101010101" pitchFamily="2" charset="-122"/>
              </a:rPr>
              <a:t>七、牛字的一些俗语    </a:t>
            </a:r>
            <a:endParaRPr lang="en-US" altLang="zh-CN" sz="32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3200" dirty="0">
                <a:latin typeface="华文楷体" panose="02010600040101010101" pitchFamily="2" charset="-122"/>
                <a:ea typeface="华文楷体" panose="02010600040101010101" pitchFamily="2" charset="-122"/>
              </a:rPr>
              <a:t> 八、书写          九、牛姓名人 </a:t>
            </a:r>
            <a:r>
              <a:rPr lang="en-US" altLang="zh-CN" sz="3200" dirty="0">
                <a:latin typeface="华文楷体" panose="02010600040101010101" pitchFamily="2" charset="-122"/>
                <a:ea typeface="华文楷体" panose="02010600040101010101" pitchFamily="2" charset="-122"/>
              </a:rPr>
              <a:t>		</a:t>
            </a:r>
            <a:r>
              <a:rPr lang="zh-CN" altLang="en-US" sz="3200" dirty="0">
                <a:latin typeface="华文楷体" panose="02010600040101010101" pitchFamily="2" charset="-122"/>
                <a:ea typeface="华文楷体" panose="02010600040101010101" pitchFamily="2" charset="-122"/>
              </a:rPr>
              <a:t>十、牛字字义</a:t>
            </a:r>
            <a:endParaRPr lang="en-US" altLang="zh-CN" sz="32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3200" dirty="0">
                <a:latin typeface="华文楷体" panose="02010600040101010101" pitchFamily="2" charset="-122"/>
                <a:ea typeface="华文楷体" panose="02010600040101010101" pitchFamily="2" charset="-122"/>
              </a:rPr>
              <a:t>十一、结尾</a:t>
            </a:r>
          </a:p>
        </p:txBody>
      </p:sp>
    </p:spTree>
    <p:extLst>
      <p:ext uri="{BB962C8B-B14F-4D97-AF65-F5344CB8AC3E}">
        <p14:creationId xmlns:p14="http://schemas.microsoft.com/office/powerpoint/2010/main" val="11912504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B86C78-69C9-2E96-BF18-CDC8172B7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2867" y="469127"/>
            <a:ext cx="6238068" cy="2139999"/>
          </a:xfrm>
        </p:spPr>
        <p:txBody>
          <a:bodyPr>
            <a:normAutofit fontScale="90000"/>
          </a:bodyPr>
          <a:lstStyle/>
          <a:p>
            <a:r>
              <a:rPr lang="zh-CN" altLang="en-US" sz="6000" dirty="0">
                <a:latin typeface="华文楷体" panose="02010600040101010101" pitchFamily="2" charset="-122"/>
                <a:ea typeface="华文楷体" panose="02010600040101010101" pitchFamily="2" charset="-122"/>
              </a:rPr>
              <a:t>第一篇章</a:t>
            </a:r>
            <a:r>
              <a:rPr lang="en-US" altLang="zh-CN" sz="6000" dirty="0">
                <a:latin typeface="华文楷体" panose="02010600040101010101" pitchFamily="2" charset="-122"/>
                <a:ea typeface="华文楷体" panose="02010600040101010101" pitchFamily="2" charset="-122"/>
              </a:rPr>
              <a:t>			</a:t>
            </a:r>
            <a:br>
              <a:rPr lang="en-US" altLang="zh-CN" sz="6000" dirty="0">
                <a:latin typeface="华文楷体" panose="02010600040101010101" pitchFamily="2" charset="-122"/>
                <a:ea typeface="华文楷体" panose="02010600040101010101" pitchFamily="2" charset="-122"/>
              </a:rPr>
            </a:br>
            <a:r>
              <a:rPr lang="zh-CN" altLang="zh-CN" sz="6000" dirty="0">
                <a:latin typeface="华文楷体" panose="02010600040101010101" pitchFamily="2" charset="-122"/>
                <a:ea typeface="华文楷体" panose="02010600040101010101" pitchFamily="2" charset="-122"/>
              </a:rPr>
              <a:t>什么是象形字</a:t>
            </a:r>
            <a:b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979211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2A34DF-E431-05E0-19C4-6BFBC5986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>
                <a:latin typeface="华文楷体" panose="02010600040101010101" pitchFamily="2" charset="-122"/>
                <a:ea typeface="华文楷体" panose="02010600040101010101" pitchFamily="2" charset="-122"/>
              </a:rPr>
              <a:t>1.</a:t>
            </a:r>
            <a:r>
              <a:rPr lang="zh-CN" altLang="zh-CN" sz="3600" dirty="0">
                <a:latin typeface="华文楷体" panose="02010600040101010101" pitchFamily="2" charset="-122"/>
                <a:ea typeface="华文楷体" panose="02010600040101010101" pitchFamily="2" charset="-122"/>
              </a:rPr>
              <a:t>什么是象形字</a:t>
            </a:r>
            <a:endParaRPr lang="zh-CN" altLang="en-US" sz="36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EE8D65A-E9FD-8868-F2CC-BEA509537273}"/>
              </a:ext>
            </a:extLst>
          </p:cNvPr>
          <p:cNvSpPr txBox="1"/>
          <p:nvPr/>
        </p:nvSpPr>
        <p:spPr>
          <a:xfrm>
            <a:off x="542441" y="1325105"/>
            <a:ext cx="11329261" cy="53399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象形字是</a:t>
            </a:r>
            <a:r>
              <a:rPr lang="zh-CN" altLang="en-US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最早的汉字造字方法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，属于独体字。</a:t>
            </a:r>
          </a:p>
          <a:p>
            <a:endParaRPr lang="en-US" altLang="zh-CN" sz="11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照着事物的样子，画出轮廓、外形来造的字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，用线条模仿物体原本的形状，</a:t>
            </a:r>
            <a:endParaRPr lang="en-US" altLang="zh-CN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一看字形，就能大概猜到它是什么东西。</a:t>
            </a:r>
          </a:p>
          <a:p>
            <a:endParaRPr lang="en-US" altLang="zh-CN" sz="12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特点：</a:t>
            </a:r>
          </a:p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直接描摹事物的外形、样子；</a:t>
            </a:r>
          </a:p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大多表示看得见、有具体形状的事物；</a:t>
            </a:r>
          </a:p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结构简单，多为独体字。</a:t>
            </a:r>
            <a:endParaRPr lang="en-US" altLang="zh-CN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常见例子：</a:t>
            </a:r>
          </a:p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日：像圆圆的太阳</a:t>
            </a:r>
          </a:p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月：像弯弯的月亮</a:t>
            </a:r>
          </a:p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山：像连绵的山峰</a:t>
            </a:r>
          </a:p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水：像流动的河水</a:t>
            </a:r>
          </a:p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木：像树木的样子</a:t>
            </a:r>
          </a:p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口：像人的嘴巴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453047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FD69A-351C-A8AF-F18E-7B36EFE66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E54E28-F121-2C51-957F-7E3CF1FC7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9525" y="1100901"/>
            <a:ext cx="7179375" cy="1564807"/>
          </a:xfrm>
        </p:spPr>
        <p:txBody>
          <a:bodyPr>
            <a:normAutofit fontScale="90000"/>
          </a:bodyPr>
          <a:lstStyle/>
          <a:p>
            <a:r>
              <a:rPr lang="en-US" altLang="zh-CN" sz="5300" dirty="0">
                <a:latin typeface="华文楷体" panose="02010600040101010101" pitchFamily="2" charset="-122"/>
                <a:ea typeface="华文楷体" panose="02010600040101010101" pitchFamily="2" charset="-122"/>
              </a:rPr>
              <a:t>2.</a:t>
            </a:r>
            <a:r>
              <a:rPr lang="zh-CN" altLang="zh-CN" sz="5300" dirty="0">
                <a:latin typeface="华文楷体" panose="02010600040101010101" pitchFamily="2" charset="-122"/>
                <a:ea typeface="华文楷体" panose="02010600040101010101" pitchFamily="2" charset="-122"/>
              </a:rPr>
              <a:t>甲骨文——画牛头</a:t>
            </a:r>
            <a:b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</a:br>
            <a:b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574899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78BBF8-9B8B-FE80-ED91-3BE3C18B4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0" y="-48432"/>
            <a:ext cx="10858500" cy="1028700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latin typeface="华文楷体" panose="02010600040101010101" pitchFamily="2" charset="-122"/>
                <a:ea typeface="华文楷体" panose="02010600040101010101" pitchFamily="2" charset="-122"/>
              </a:rPr>
              <a:t>2.</a:t>
            </a:r>
            <a:r>
              <a:rPr lang="zh-CN" altLang="zh-CN" sz="3600" dirty="0">
                <a:latin typeface="华文楷体" panose="02010600040101010101" pitchFamily="2" charset="-122"/>
                <a:ea typeface="华文楷体" panose="02010600040101010101" pitchFamily="2" charset="-122"/>
              </a:rPr>
              <a:t>甲骨文——画牛头</a:t>
            </a:r>
            <a:endParaRPr lang="zh-CN" altLang="en-US" sz="36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B38FC68-2CCB-1191-01C4-53C78D55A494}"/>
              </a:ext>
            </a:extLst>
          </p:cNvPr>
          <p:cNvSpPr txBox="1"/>
          <p:nvPr/>
        </p:nvSpPr>
        <p:spPr>
          <a:xfrm>
            <a:off x="364211" y="1503336"/>
            <a:ext cx="482772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• 商代刻在龟甲、兽骨上的文字。</a:t>
            </a:r>
          </a:p>
          <a:p>
            <a:r>
              <a:rPr lang="zh-CN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• “牛”字：只画一个正面的牛头</a:t>
            </a:r>
          </a:p>
          <a:p>
            <a:r>
              <a:rPr lang="zh-CN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•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中间一竖：牛的脸部</a:t>
            </a:r>
          </a:p>
          <a:p>
            <a:r>
              <a:rPr lang="zh-CN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•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两边向上弯：一对牛角</a:t>
            </a:r>
          </a:p>
          <a:p>
            <a:r>
              <a:rPr lang="zh-CN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•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下面短笔：牛耳朵</a:t>
            </a:r>
          </a:p>
          <a:p>
            <a:r>
              <a:rPr lang="zh-CN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• 特点：像图画，很象形。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CB61482-2ED4-D20F-DE63-1B43121E81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6570" y="1094422"/>
            <a:ext cx="3920490" cy="3820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9502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E5B12-7C47-1E3B-5A4A-8BFFE2B08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A22BA1-58AA-47AB-93DD-4B73C2659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3581" y="1100902"/>
            <a:ext cx="7675320" cy="952624"/>
          </a:xfrm>
        </p:spPr>
        <p:txBody>
          <a:bodyPr>
            <a:normAutofit/>
          </a:bodyPr>
          <a:lstStyle/>
          <a:p>
            <a:r>
              <a:rPr lang="en-US" altLang="zh-CN" sz="5400" dirty="0">
                <a:latin typeface="华文楷体" panose="02010600040101010101" pitchFamily="2" charset="-122"/>
                <a:ea typeface="华文楷体" panose="02010600040101010101" pitchFamily="2" charset="-122"/>
              </a:rPr>
              <a:t>3.</a:t>
            </a:r>
            <a:r>
              <a:rPr lang="zh-CN" altLang="zh-CN" sz="5400" dirty="0">
                <a:latin typeface="华文楷体" panose="02010600040101010101" pitchFamily="2" charset="-122"/>
                <a:ea typeface="华文楷体" panose="02010600040101010101" pitchFamily="2" charset="-122"/>
              </a:rPr>
              <a:t>金文、小篆——线条化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903449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82E1C7-1423-276E-F979-1EB0B8920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858500" cy="532754"/>
          </a:xfrm>
        </p:spPr>
        <p:txBody>
          <a:bodyPr/>
          <a:lstStyle/>
          <a:p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3.</a:t>
            </a:r>
            <a:r>
              <a:rPr lang="zh-CN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金文、小篆——线条化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5FB856D-69D1-7D43-FC07-18721913F74A}"/>
              </a:ext>
            </a:extLst>
          </p:cNvPr>
          <p:cNvSpPr txBox="1"/>
          <p:nvPr/>
        </p:nvSpPr>
        <p:spPr>
          <a:xfrm>
            <a:off x="282842" y="532755"/>
            <a:ext cx="7950631" cy="4724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en-US" altLang="zh-CN" dirty="0"/>
              <a:t>1. </a:t>
            </a:r>
            <a:r>
              <a:rPr lang="zh-CN" altLang="zh-CN" dirty="0"/>
              <a:t>金文（青铜器文字） </a:t>
            </a:r>
          </a:p>
          <a:p>
            <a:r>
              <a:rPr lang="en-US" altLang="zh-CN" sz="3200" dirty="0"/>
              <a:t>◦ </a:t>
            </a:r>
            <a:r>
              <a:rPr lang="zh-CN" altLang="zh-CN" sz="3200" dirty="0"/>
              <a:t>继承甲骨文，线条更粗、更整齐。</a:t>
            </a:r>
            <a:endParaRPr lang="en-US" altLang="zh-CN" sz="3200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zh-CN" sz="100" dirty="0"/>
          </a:p>
          <a:p>
            <a:r>
              <a:rPr lang="en-US" altLang="zh-CN" dirty="0"/>
              <a:t>2. </a:t>
            </a:r>
            <a:r>
              <a:rPr lang="zh-CN" altLang="zh-CN" dirty="0"/>
              <a:t>小篆（秦朝统一文字）</a:t>
            </a:r>
          </a:p>
          <a:p>
            <a:r>
              <a:rPr lang="en-US" altLang="zh-CN" sz="3200" dirty="0"/>
              <a:t>◦ </a:t>
            </a:r>
            <a:r>
              <a:rPr lang="zh-CN" altLang="zh-CN" sz="3200" dirty="0"/>
              <a:t>字形变长、对称、规范。</a:t>
            </a:r>
          </a:p>
          <a:p>
            <a:r>
              <a:rPr lang="en-US" altLang="zh-CN" sz="3200" dirty="0"/>
              <a:t>◦ </a:t>
            </a:r>
            <a:r>
              <a:rPr lang="zh-CN" altLang="zh-CN" sz="3200" dirty="0"/>
              <a:t>能看出牛角、牛头，但更像字，不像画。</a:t>
            </a:r>
            <a:endParaRPr lang="zh-CN" altLang="en-US" sz="32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831411A-B76B-A6AE-95EA-0BD6BB3433D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80" t="6478" r="6452" b="4329"/>
          <a:stretch>
            <a:fillRect/>
          </a:stretch>
        </p:blipFill>
        <p:spPr>
          <a:xfrm>
            <a:off x="8547316" y="3510366"/>
            <a:ext cx="1945037" cy="2142642"/>
          </a:xfrm>
          <a:prstGeom prst="ellipse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4C5B146-9CC4-A0DA-C2ED-ED9239DED6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12" t="1022" r="5554" b="6397"/>
          <a:stretch>
            <a:fillRect/>
          </a:stretch>
        </p:blipFill>
        <p:spPr>
          <a:xfrm>
            <a:off x="8473697" y="831741"/>
            <a:ext cx="1945036" cy="2224009"/>
          </a:xfrm>
          <a:prstGeom prst="ellipse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738DED4B-6E4B-8E7E-7FE8-A8082A38A2D8}"/>
              </a:ext>
            </a:extLst>
          </p:cNvPr>
          <p:cNvSpPr txBox="1"/>
          <p:nvPr/>
        </p:nvSpPr>
        <p:spPr>
          <a:xfrm>
            <a:off x="8016496" y="1629582"/>
            <a:ext cx="433953" cy="532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金文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7A1677F-75AC-29E9-F47E-3E453C97C65D}"/>
              </a:ext>
            </a:extLst>
          </p:cNvPr>
          <p:cNvSpPr txBox="1"/>
          <p:nvPr/>
        </p:nvSpPr>
        <p:spPr>
          <a:xfrm>
            <a:off x="8061053" y="4434055"/>
            <a:ext cx="3293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4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小篆</a:t>
            </a:r>
            <a:endParaRPr lang="zh-CN" altLang="en-US" sz="140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06449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272ED-2AB6-CCA0-D204-AE1E07B17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EE0019-4DFE-83B4-DA79-8BA4C8548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8095" y="2262754"/>
            <a:ext cx="10852473" cy="945396"/>
          </a:xfrm>
        </p:spPr>
        <p:txBody>
          <a:bodyPr>
            <a:normAutofit fontScale="90000"/>
          </a:bodyPr>
          <a:lstStyle/>
          <a:p>
            <a:r>
              <a:rPr lang="en-US" altLang="zh-CN" sz="5400" dirty="0">
                <a:latin typeface="华文楷体" panose="02010600040101010101" pitchFamily="2" charset="-122"/>
                <a:ea typeface="华文楷体" panose="02010600040101010101" pitchFamily="2" charset="-122"/>
              </a:rPr>
              <a:t>4.</a:t>
            </a:r>
            <a:r>
              <a:rPr lang="zh-CN" altLang="zh-CN" sz="5400" dirty="0">
                <a:latin typeface="华文楷体" panose="02010600040101010101" pitchFamily="2" charset="-122"/>
                <a:ea typeface="华文楷体" panose="02010600040101010101" pitchFamily="2" charset="-122"/>
              </a:rPr>
              <a:t>隶书、楷书——变成今天的“牛”</a:t>
            </a:r>
            <a:br>
              <a:rPr lang="en-US" altLang="zh-CN" sz="5400" dirty="0">
                <a:latin typeface="华文楷体" panose="02010600040101010101" pitchFamily="2" charset="-122"/>
                <a:ea typeface="华文楷体" panose="02010600040101010101" pitchFamily="2" charset="-122"/>
              </a:rPr>
            </a:br>
            <a:b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139772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6EECA9-3550-A98D-EDB9-EA85A0214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>
                <a:latin typeface="华文楷体" panose="02010600040101010101" pitchFamily="2" charset="-122"/>
                <a:ea typeface="华文楷体" panose="02010600040101010101" pitchFamily="2" charset="-122"/>
              </a:rPr>
              <a:t>4.</a:t>
            </a:r>
            <a:r>
              <a:rPr lang="zh-CN" altLang="zh-CN" sz="3200" dirty="0">
                <a:latin typeface="华文楷体" panose="02010600040101010101" pitchFamily="2" charset="-122"/>
                <a:ea typeface="华文楷体" panose="02010600040101010101" pitchFamily="2" charset="-122"/>
              </a:rPr>
              <a:t>隶书、楷书——变成今天的“牛”</a:t>
            </a:r>
            <a:endParaRPr lang="zh-CN" altLang="en-US" sz="32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BFA997C-0B46-EF4F-1074-D7E9D975EE2E}"/>
              </a:ext>
            </a:extLst>
          </p:cNvPr>
          <p:cNvSpPr txBox="1"/>
          <p:nvPr/>
        </p:nvSpPr>
        <p:spPr>
          <a:xfrm>
            <a:off x="2872540" y="1351508"/>
            <a:ext cx="11151031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1. </a:t>
            </a:r>
            <a:r>
              <a:rPr lang="zh-CN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隶书</a:t>
            </a:r>
          </a:p>
          <a:p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◦ </a:t>
            </a:r>
            <a:r>
              <a:rPr lang="zh-CN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圆转笔画变方折，</a:t>
            </a:r>
            <a:endParaRPr lang="en-US" altLang="zh-CN" sz="2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象形样子慢慢消失。</a:t>
            </a:r>
          </a:p>
          <a:p>
            <a:endParaRPr lang="en-US" altLang="zh-CN" sz="2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en-US" altLang="zh-CN" sz="2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en-US" altLang="zh-CN" sz="2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en-US" altLang="zh-CN" sz="2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2. </a:t>
            </a:r>
            <a:r>
              <a:rPr lang="zh-CN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楷书</a:t>
            </a:r>
          </a:p>
          <a:p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◦ </a:t>
            </a:r>
            <a:r>
              <a:rPr lang="zh-CN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笔画规范、端正，</a:t>
            </a:r>
            <a:endParaRPr lang="en-US" altLang="zh-CN" sz="2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定型为现在的：撇、横、横、竖。</a:t>
            </a:r>
          </a:p>
          <a:p>
            <a:endParaRPr lang="zh-CN" altLang="en-US" sz="2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D4A1E31-F70B-4374-D4E6-E701B5B8D4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0525" y="3554278"/>
            <a:ext cx="2493022" cy="249302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876CBB5-40E5-57D8-D3D0-B732A84BD1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0525" y="347052"/>
            <a:ext cx="2493022" cy="2743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6191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3662C6-920F-1D36-ACCB-352C9BFE7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5800" y="1562100"/>
            <a:ext cx="9334500" cy="979622"/>
          </a:xfrm>
        </p:spPr>
        <p:txBody>
          <a:bodyPr>
            <a:noAutofit/>
          </a:bodyPr>
          <a:lstStyle/>
          <a:p>
            <a:r>
              <a:rPr lang="en-US" altLang="zh-CN" sz="5400" dirty="0">
                <a:latin typeface="华文楷体" panose="02010600040101010101" pitchFamily="2" charset="-122"/>
                <a:ea typeface="华文楷体" panose="02010600040101010101" pitchFamily="2" charset="-122"/>
              </a:rPr>
              <a:t>5.</a:t>
            </a:r>
            <a:r>
              <a:rPr lang="zh-CN" altLang="zh-CN" sz="5400" dirty="0">
                <a:latin typeface="华文楷体" panose="02010600040101010101" pitchFamily="2" charset="-122"/>
                <a:ea typeface="华文楷体" panose="02010600040101010101" pitchFamily="2" charset="-122"/>
              </a:rPr>
              <a:t>总结</a:t>
            </a:r>
            <a:r>
              <a:rPr lang="zh-CN" altLang="en-US" sz="54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：汉字的演化</a:t>
            </a:r>
            <a:br>
              <a:rPr lang="en-US" altLang="zh-CN" sz="5400" dirty="0">
                <a:latin typeface="华文楷体" panose="02010600040101010101" pitchFamily="2" charset="-122"/>
                <a:ea typeface="华文楷体" panose="02010600040101010101" pitchFamily="2" charset="-122"/>
              </a:rPr>
            </a:br>
            <a:endParaRPr lang="zh-CN" altLang="en-US" sz="5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673B98A-93F2-111C-8A02-C9E5BAC798B9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4539303" y="2981608"/>
            <a:ext cx="8530246" cy="816669"/>
          </a:xfrm>
        </p:spPr>
        <p:txBody>
          <a:bodyPr>
            <a:normAutofit/>
          </a:bodyPr>
          <a:lstStyle/>
          <a:p>
            <a:endParaRPr lang="zh-CN" altLang="en-US" sz="2800"/>
          </a:p>
        </p:txBody>
      </p:sp>
    </p:spTree>
    <p:extLst>
      <p:ext uri="{BB962C8B-B14F-4D97-AF65-F5344CB8AC3E}">
        <p14:creationId xmlns:p14="http://schemas.microsoft.com/office/powerpoint/2010/main" val="155801864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589CD8-7FAE-40CA-39F4-53E7C0926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400" dirty="0">
                <a:latin typeface="华文楷体" panose="02010600040101010101" pitchFamily="2" charset="-122"/>
                <a:ea typeface="华文楷体" panose="02010600040101010101" pitchFamily="2" charset="-122"/>
              </a:rPr>
              <a:t>5.</a:t>
            </a:r>
            <a:r>
              <a:rPr lang="zh-CN" altLang="en-US" sz="4400" dirty="0">
                <a:latin typeface="华文楷体" panose="02010600040101010101" pitchFamily="2" charset="-122"/>
                <a:ea typeface="华文楷体" panose="02010600040101010101" pitchFamily="2" charset="-122"/>
              </a:rPr>
              <a:t>总结：汉字的演化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769C72A-BA03-0329-8879-75CCD4DD535A}"/>
              </a:ext>
            </a:extLst>
          </p:cNvPr>
          <p:cNvSpPr txBox="1"/>
          <p:nvPr/>
        </p:nvSpPr>
        <p:spPr>
          <a:xfrm>
            <a:off x="520914" y="1687354"/>
            <a:ext cx="10792848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hangingPunct="0"/>
            <a:r>
              <a:rPr lang="zh-CN" altLang="zh-CN" sz="4000" i="1" spc="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甲骨文（画牛头）→ </a:t>
            </a:r>
            <a:endParaRPr lang="en-US" altLang="zh-CN" sz="4000" i="1" spc="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hangingPunct="0"/>
            <a:r>
              <a:rPr lang="zh-CN" altLang="zh-CN" sz="4000" i="1" spc="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金文</a:t>
            </a:r>
            <a:r>
              <a:rPr lang="en-US" altLang="zh-CN" sz="4000" i="1" spc="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/</a:t>
            </a:r>
            <a:r>
              <a:rPr lang="zh-CN" altLang="zh-CN" sz="4000" i="1" spc="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小篆（线条化）→</a:t>
            </a:r>
            <a:endParaRPr lang="en-US" altLang="zh-CN" sz="4000" i="1" spc="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hangingPunct="0"/>
            <a:r>
              <a:rPr lang="zh-CN" altLang="zh-CN" sz="4000" i="1" spc="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隶书</a:t>
            </a:r>
            <a:r>
              <a:rPr lang="en-US" altLang="zh-CN" sz="4000" i="1" spc="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/</a:t>
            </a:r>
            <a:r>
              <a:rPr lang="zh-CN" altLang="zh-CN" sz="4000" i="1" spc="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楷书（标准汉字</a:t>
            </a:r>
            <a:r>
              <a:rPr lang="zh-CN" altLang="en-US" sz="4000" i="1" spc="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）</a:t>
            </a:r>
            <a:endParaRPr lang="zh-CN" altLang="zh-CN" sz="4000" i="1" spc="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hangingPunct="0"/>
            <a:r>
              <a:rPr lang="zh-CN" altLang="zh-CN" sz="4000" i="1" spc="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“牛”字，最早是一幅牛头画，</a:t>
            </a:r>
          </a:p>
          <a:p>
            <a:pPr hangingPunct="0"/>
            <a:r>
              <a:rPr lang="zh-CN" altLang="zh-CN" sz="4000" i="1" spc="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经过几千年慢慢简化、规范，</a:t>
            </a:r>
          </a:p>
          <a:p>
            <a:pPr hangingPunct="0"/>
            <a:r>
              <a:rPr lang="zh-CN" altLang="zh-CN" sz="4000" i="1" spc="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最后变成我们今天写的“牛”。</a:t>
            </a:r>
          </a:p>
          <a:p>
            <a:pPr hangingPunct="0"/>
            <a:r>
              <a:rPr lang="zh-CN" altLang="zh-CN" sz="4000" i="1" spc="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它是汉字象形造字法的完美例子。</a:t>
            </a:r>
          </a:p>
          <a:p>
            <a:endParaRPr lang="zh-CN" altLang="en-US" sz="4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587322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DF6C90-022E-7355-46A7-ECF2B2264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4091" y="1100901"/>
            <a:ext cx="7614810" cy="1484371"/>
          </a:xfrm>
        </p:spPr>
        <p:txBody>
          <a:bodyPr>
            <a:normAutofit/>
          </a:bodyPr>
          <a:lstStyle/>
          <a:p>
            <a:r>
              <a:rPr lang="zh-CN" altLang="en-US" sz="6000" dirty="0">
                <a:latin typeface="华文楷体" panose="02010600040101010101" pitchFamily="2" charset="-122"/>
                <a:ea typeface="华文楷体" panose="02010600040101010101" pitchFamily="2" charset="-122"/>
              </a:rPr>
              <a:t>七、牛字的一些俗语</a:t>
            </a:r>
            <a:endParaRPr lang="zh-CN" altLang="en-US" sz="6000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4E1D47-1D67-775B-9633-8B98364D5B37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>
            <a:normAutofit/>
          </a:bodyPr>
          <a:lstStyle/>
          <a:p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第三篇章</a:t>
            </a:r>
          </a:p>
        </p:txBody>
      </p:sp>
    </p:spTree>
    <p:extLst>
      <p:ext uri="{BB962C8B-B14F-4D97-AF65-F5344CB8AC3E}">
        <p14:creationId xmlns:p14="http://schemas.microsoft.com/office/powerpoint/2010/main" val="4207201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5A121B-EF38-C81C-B28F-BA37678F3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543" y="-1"/>
            <a:ext cx="8014914" cy="1542553"/>
          </a:xfrm>
        </p:spPr>
        <p:txBody>
          <a:bodyPr>
            <a:normAutofit/>
          </a:bodyPr>
          <a:lstStyle/>
          <a:p>
            <a:r>
              <a:rPr lang="zh-CN" altLang="en-US" sz="6000" dirty="0">
                <a:latin typeface="华文楷体" panose="02010600040101010101" pitchFamily="2" charset="-122"/>
                <a:ea typeface="华文楷体" panose="02010600040101010101" pitchFamily="2" charset="-122"/>
              </a:rPr>
              <a:t>七、牛字的一些俗语</a:t>
            </a:r>
            <a:endParaRPr lang="zh-CN" altLang="en-US" sz="60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0C019B6-639C-DAD2-83B3-3D9C63177E41}"/>
              </a:ext>
            </a:extLst>
          </p:cNvPr>
          <p:cNvSpPr txBox="1"/>
          <p:nvPr/>
        </p:nvSpPr>
        <p:spPr>
          <a:xfrm>
            <a:off x="190831" y="1924216"/>
            <a:ext cx="1171227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1. </a:t>
            </a:r>
            <a:r>
              <a:rPr lang="zh-CN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初生牛犊——不怕虎</a:t>
            </a:r>
          </a:p>
          <a:p>
            <a:r>
              <a:rPr lang="zh-CN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比喻年轻人勇敢无畏，没有顾虑。</a:t>
            </a:r>
          </a:p>
          <a:p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2. </a:t>
            </a:r>
            <a:r>
              <a:rPr lang="zh-CN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杀鸡用牛刀——小题大做</a:t>
            </a:r>
          </a:p>
          <a:p>
            <a:r>
              <a:rPr lang="zh-CN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把小事情当成大事情来处理，浪费力气。</a:t>
            </a:r>
            <a:endParaRPr lang="en-US" altLang="zh-CN" sz="2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3. </a:t>
            </a:r>
            <a:r>
              <a:rPr lang="zh-CN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骑牛看唱本——走着瞧</a:t>
            </a:r>
            <a:endParaRPr lang="en-US" altLang="zh-CN" sz="2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等以后看结果，看谁对谁错</a:t>
            </a:r>
          </a:p>
          <a:p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4. </a:t>
            </a:r>
            <a:r>
              <a:rPr lang="zh-CN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钻牛角尖——死胡同</a:t>
            </a:r>
          </a:p>
          <a:p>
            <a:r>
              <a:rPr lang="zh-CN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比喻思路狭窄，非要纠结没用的细节。</a:t>
            </a: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5. </a:t>
            </a:r>
            <a:r>
              <a:rPr lang="zh-CN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牛皮灯笼——肚里亮</a:t>
            </a:r>
          </a:p>
          <a:p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						      </a:t>
            </a:r>
            <a:r>
              <a:rPr lang="zh-CN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心里清楚明白，只是嘴上不说。</a:t>
            </a:r>
          </a:p>
          <a:p>
            <a:endParaRPr lang="zh-CN" altLang="en-US" sz="2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4635273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0B1541-3221-4A84-CA37-254E9B9E0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8151" y="695325"/>
            <a:ext cx="4810124" cy="1901801"/>
          </a:xfrm>
        </p:spPr>
        <p:txBody>
          <a:bodyPr>
            <a:normAutofit fontScale="90000"/>
          </a:bodyPr>
          <a:lstStyle/>
          <a:p>
            <a:r>
              <a:rPr lang="zh-CN" altLang="en-US" sz="6000" dirty="0">
                <a:latin typeface="华文楷体" panose="02010600040101010101" pitchFamily="2" charset="-122"/>
                <a:ea typeface="华文楷体" panose="02010600040101010101" pitchFamily="2" charset="-122"/>
              </a:rPr>
              <a:t>八、书写</a:t>
            </a:r>
            <a:br>
              <a:rPr lang="en-US" altLang="zh-CN" sz="6000" dirty="0">
                <a:latin typeface="华文楷体" panose="02010600040101010101" pitchFamily="2" charset="-122"/>
                <a:ea typeface="华文楷体" panose="02010600040101010101" pitchFamily="2" charset="-122"/>
              </a:rPr>
            </a:br>
            <a:endParaRPr lang="zh-CN" altLang="en-US" sz="6000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96E9CCA-FBD8-1F19-4AE5-B679257CFA49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第四篇章</a:t>
            </a:r>
          </a:p>
        </p:txBody>
      </p:sp>
    </p:spTree>
    <p:extLst>
      <p:ext uri="{BB962C8B-B14F-4D97-AF65-F5344CB8AC3E}">
        <p14:creationId xmlns:p14="http://schemas.microsoft.com/office/powerpoint/2010/main" val="14515284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3C4AFE-BBE1-75EC-ACAA-6D8C50C66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八、书写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BB6E8D7-1F02-6F16-FA22-1F52B9A60337}"/>
              </a:ext>
            </a:extLst>
          </p:cNvPr>
          <p:cNvSpPr txBox="1"/>
          <p:nvPr/>
        </p:nvSpPr>
        <p:spPr>
          <a:xfrm>
            <a:off x="660399" y="1257300"/>
            <a:ext cx="108585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写好“牛”字，需把握笔顺、结构与笔画细节。笔顺为：短撇→短横→长横→中竖。</a:t>
            </a:r>
          </a:p>
          <a:p>
            <a:endParaRPr lang="zh-CN" altLang="en-US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短撇宜平（约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30°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），如牛角短促有力。两横上短下长，间距紧凑，长横略扛肩以托稳字形。中竖为关键，须垂直贯穿两横正中央，并写作悬针竖（末端出尖），使字挺拔。</a:t>
            </a:r>
          </a:p>
          <a:p>
            <a:endParaRPr lang="zh-CN" altLang="en-US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整体遵循上紧下松原则，竖画写正，字形即稳。避免撇过斜、横距过大或竖画弯曲，可保端正精神。</a:t>
            </a:r>
          </a:p>
        </p:txBody>
      </p:sp>
    </p:spTree>
    <p:extLst>
      <p:ext uri="{BB962C8B-B14F-4D97-AF65-F5344CB8AC3E}">
        <p14:creationId xmlns:p14="http://schemas.microsoft.com/office/powerpoint/2010/main" val="30136614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5C8855-74D9-4E85-71F8-F0BD025FA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1519" y="767167"/>
            <a:ext cx="7117381" cy="1818106"/>
          </a:xfrm>
        </p:spPr>
        <p:txBody>
          <a:bodyPr>
            <a:normAutofit fontScale="90000"/>
          </a:bodyPr>
          <a:lstStyle/>
          <a:p>
            <a:r>
              <a:rPr lang="zh-CN" altLang="en-US" sz="6000" dirty="0">
                <a:latin typeface="华文楷体" panose="02010600040101010101" pitchFamily="2" charset="-122"/>
                <a:ea typeface="华文楷体" panose="02010600040101010101" pitchFamily="2" charset="-122"/>
              </a:rPr>
              <a:t>九、牛姓名人</a:t>
            </a:r>
            <a:br>
              <a:rPr lang="en-US" altLang="zh-CN" sz="6000" dirty="0">
                <a:latin typeface="华文楷体" panose="02010600040101010101" pitchFamily="2" charset="-122"/>
                <a:ea typeface="华文楷体" panose="02010600040101010101" pitchFamily="2" charset="-122"/>
              </a:rPr>
            </a:br>
            <a:endParaRPr lang="zh-CN" altLang="en-US" sz="6000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498F28C-51E9-D4A8-F51A-39172FC7849D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308156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9D7B23-C0EF-4B04-E7FC-54AEFA4D9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九、牛姓名人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B2CDDCD-2638-247A-5BA2-B1FD588F4BDA}"/>
              </a:ext>
            </a:extLst>
          </p:cNvPr>
          <p:cNvSpPr txBox="1"/>
          <p:nvPr/>
        </p:nvSpPr>
        <p:spPr>
          <a:xfrm>
            <a:off x="0" y="1487837"/>
            <a:ext cx="121920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🧬 牛满江：探索生命密码</a:t>
            </a:r>
          </a:p>
          <a:p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他是国际著名的发育生物学家，美籍华人。他最厉害的是研究 </a:t>
            </a: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mRNA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（信使核糖核酸），早在几十年前就发现了它在遗传发育中的关键作用，还和童第周教授合作过实验，是生物学界的泰斗级人物。</a:t>
            </a:r>
          </a:p>
          <a:p>
            <a:endParaRPr lang="zh-CN" altLang="en-US" sz="16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📷 牛憨笨：给光拍照的院士</a:t>
            </a:r>
          </a:p>
          <a:p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他是中国工程院院士，光电子学专家。他专门研究“超快现象”，比如研制了高速变像管相机，能拍下极快的光变化。这套技术对我国地下核试验和激光核聚变研究起到了关键作用。</a:t>
            </a:r>
          </a:p>
          <a:p>
            <a:endParaRPr lang="zh-CN" altLang="en-US" sz="16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🚀 牛济泰：焊接航天材料</a:t>
            </a:r>
          </a:p>
          <a:p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他是俄罗斯自然科学院院士，哈工大教授。他专门解决航空航天新材料的焊接难题，比如怎么把火箭、飞机上的特殊材料牢牢连在一起，是航天焊接领域的权威专家</a:t>
            </a:r>
            <a:endParaRPr lang="en-US" altLang="zh-CN" sz="16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en-US" altLang="zh-CN" sz="16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牛犇（</a:t>
            </a: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1935- 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），原名张学景，天津人，上海电影制片厂一级演员，被誉为“影坛常青树”。</a:t>
            </a:r>
          </a:p>
          <a:p>
            <a:endParaRPr lang="zh-CN" altLang="en-US" sz="16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1946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年凭</a:t>
            </a: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《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圣城记</a:t>
            </a: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》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童星出道，从影七十余载，参演</a:t>
            </a: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《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龙须沟</a:t>
            </a: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》《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红色娘子军</a:t>
            </a: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》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等经典。</a:t>
            </a: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1982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年因在</a:t>
            </a: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《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牧马人</a:t>
            </a: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》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中饰演“郭谝子”一角，斩获金鸡奖与百花奖双料最佳男配角。他一生甘当绿叶，擅长刻画小人物，晚年仍坚持亲自完成</a:t>
            </a: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《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海鸥老人</a:t>
            </a: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》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等作品的拍摄。</a:t>
            </a:r>
          </a:p>
          <a:p>
            <a:endParaRPr lang="zh-CN" altLang="en-US" sz="16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荣誉与信仰</a:t>
            </a:r>
          </a:p>
          <a:p>
            <a:endParaRPr lang="zh-CN" altLang="en-US" sz="16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2017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年获中国电影金鸡奖终身成就奖，</a:t>
            </a: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2024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年当选“感动中国</a:t>
            </a: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2023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年度人物”。他于</a:t>
            </a: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2018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年以</a:t>
            </a: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83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岁高龄加入中国共产党，践行“演好戏、做好人”的艺德追求。</a:t>
            </a:r>
          </a:p>
        </p:txBody>
      </p:sp>
    </p:spTree>
    <p:extLst>
      <p:ext uri="{BB962C8B-B14F-4D97-AF65-F5344CB8AC3E}">
        <p14:creationId xmlns:p14="http://schemas.microsoft.com/office/powerpoint/2010/main" val="16078827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A7C8F1-4749-4D64-7FD8-2DB2E21F5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5400" dirty="0">
                <a:latin typeface="华文楷体" panose="02010600040101010101" pitchFamily="2" charset="-122"/>
                <a:ea typeface="华文楷体" panose="02010600040101010101" pitchFamily="2" charset="-122"/>
              </a:rPr>
              <a:t>十、牛字字义</a:t>
            </a:r>
            <a:endParaRPr lang="zh-CN" altLang="en-US" sz="5400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1F0017D-BF83-83E0-10AF-032F87A0D5C2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74139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CB1694-2689-D096-6B35-A695AD458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>
                <a:latin typeface="华文楷体" panose="02010600040101010101" pitchFamily="2" charset="-122"/>
                <a:ea typeface="华文楷体" panose="02010600040101010101" pitchFamily="2" charset="-122"/>
              </a:rPr>
              <a:t>十、牛字字义</a:t>
            </a:r>
            <a:endParaRPr lang="zh-CN" altLang="en-US" sz="32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33EAD8F-0503-D2B2-DE86-BD148DB9BC89}"/>
              </a:ext>
            </a:extLst>
          </p:cNvPr>
          <p:cNvSpPr txBox="1"/>
          <p:nvPr/>
        </p:nvSpPr>
        <p:spPr>
          <a:xfrm>
            <a:off x="0" y="1247614"/>
            <a:ext cx="1219200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“牛”字含义可归纳为五类：</a:t>
            </a:r>
          </a:p>
          <a:p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1. 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本义：家畜黄牛，泛指牛科动物。</a:t>
            </a:r>
          </a:p>
          <a:p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2. 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象征与引申：</a:t>
            </a:r>
          </a:p>
          <a:p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◦ 力量</a:t>
            </a: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/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勤劳：如“老黄牛精神”。</a:t>
            </a:r>
          </a:p>
          <a:p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◦ 固执</a:t>
            </a: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/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骄傲：如“牛脾气”。</a:t>
            </a:r>
          </a:p>
          <a:p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◦ 上涨行情：股市“牛市”。</a:t>
            </a:r>
          </a:p>
          <a:p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3. 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科学单位：力的单位“牛顿”简称</a:t>
            </a: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N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，中文俗称“牛”。</a:t>
            </a:r>
          </a:p>
          <a:p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4. 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传统文化：</a:t>
            </a:r>
          </a:p>
          <a:p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◦ 星宿：二十八星宿之“牛宿”。</a:t>
            </a:r>
          </a:p>
          <a:p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◦ 地支：对应“丑”。</a:t>
            </a:r>
          </a:p>
          <a:p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5. 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社会应用：</a:t>
            </a:r>
          </a:p>
          <a:p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◦ 姓氏：常见姓氏。</a:t>
            </a:r>
          </a:p>
          <a:p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◦ 口语：形容厉害（如“你真牛”）。</a:t>
            </a:r>
          </a:p>
        </p:txBody>
      </p:sp>
    </p:spTree>
    <p:extLst>
      <p:ext uri="{BB962C8B-B14F-4D97-AF65-F5344CB8AC3E}">
        <p14:creationId xmlns:p14="http://schemas.microsoft.com/office/powerpoint/2010/main" val="20693718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62D397-7499-940F-D87B-DFABD9001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8000" dirty="0">
                <a:latin typeface="楷体" panose="02010609060101010101" pitchFamily="49" charset="-122"/>
                <a:ea typeface="楷体" panose="02010609060101010101" pitchFamily="49" charset="-122"/>
              </a:rPr>
              <a:t>十、结尾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F317FC-781B-FD1A-DDDD-5D0961F055BA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04931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6992D3-FAB9-480C-3A55-608422EC2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800" dirty="0">
                <a:latin typeface="华文楷体" panose="02010600040101010101" pitchFamily="2" charset="-122"/>
                <a:ea typeface="华文楷体" panose="02010600040101010101" pitchFamily="2" charset="-122"/>
              </a:rPr>
              <a:t>结尾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1FA6327-2ED9-129D-9265-C58E55E387DC}"/>
              </a:ext>
            </a:extLst>
          </p:cNvPr>
          <p:cNvSpPr txBox="1"/>
          <p:nvPr/>
        </p:nvSpPr>
        <p:spPr>
          <a:xfrm>
            <a:off x="1143000" y="1819274"/>
            <a:ext cx="927735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4000" dirty="0">
                <a:latin typeface="华文楷体" panose="02010600040101010101" pitchFamily="2" charset="-122"/>
                <a:ea typeface="华文楷体" panose="02010600040101010101" pitchFamily="2" charset="-122"/>
              </a:rPr>
              <a:t>中国文明博大精深，从甲骨文到现在我们用的楷书，背后都是智慧和文化，我们也要努力学好汉字，把中华文化发扬光大！</a:t>
            </a:r>
          </a:p>
        </p:txBody>
      </p:sp>
    </p:spTree>
    <p:extLst>
      <p:ext uri="{BB962C8B-B14F-4D97-AF65-F5344CB8AC3E}">
        <p14:creationId xmlns:p14="http://schemas.microsoft.com/office/powerpoint/2010/main" val="185938673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46A6FE-B301-BD23-EC37-EF441538E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12500" dirty="0">
                <a:latin typeface="楷体" panose="02010609060101010101" pitchFamily="49" charset="-122"/>
                <a:ea typeface="楷体" panose="02010609060101010101" pitchFamily="49" charset="-122"/>
              </a:rPr>
              <a:t>谢谢大家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1E3E886-5CFE-3F5D-4FFC-DA28660FA8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4708754"/>
            <a:ext cx="834119" cy="234722"/>
          </a:xfrm>
        </p:spPr>
        <p:txBody>
          <a:bodyPr>
            <a:normAutofit fontScale="92500"/>
          </a:bodyPr>
          <a:lstStyle/>
          <a:p>
            <a:r>
              <a:rPr lang="zh-CN" altLang="en-US" sz="1000" dirty="0"/>
              <a:t>非</a:t>
            </a:r>
            <a:r>
              <a:rPr lang="en-US" altLang="zh-CN" sz="1000" dirty="0"/>
              <a:t>AIGC</a:t>
            </a:r>
            <a:r>
              <a:rPr lang="zh-CN" altLang="en-US" sz="1000" dirty="0"/>
              <a:t>制作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D01B9B6-EBBF-F414-5BC9-A252EED63053}"/>
              </a:ext>
            </a:extLst>
          </p:cNvPr>
          <p:cNvSpPr txBox="1"/>
          <p:nvPr/>
        </p:nvSpPr>
        <p:spPr>
          <a:xfrm>
            <a:off x="-85043" y="4432939"/>
            <a:ext cx="18383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华文楷体" panose="02010600040101010101" pitchFamily="2" charset="-122"/>
                <a:ea typeface="华文楷体" panose="02010600040101010101" pitchFamily="2" charset="-122"/>
                <a:hlinkClick r:id="rId2"/>
              </a:rPr>
              <a:t>©</a:t>
            </a:r>
            <a:r>
              <a:rPr lang="en-US" altLang="zh-CN" sz="1200" dirty="0" err="1">
                <a:latin typeface="华文楷体" panose="02010600040101010101" pitchFamily="2" charset="-122"/>
                <a:ea typeface="华文楷体" panose="02010600040101010101" pitchFamily="2" charset="-122"/>
                <a:hlinkClick r:id="rId2"/>
              </a:rPr>
              <a:t>CopyRight</a:t>
            </a:r>
            <a:r>
              <a:rPr lang="en-US" altLang="zh-CN" sz="1200" dirty="0">
                <a:latin typeface="华文楷体" panose="02010600040101010101" pitchFamily="2" charset="-122"/>
                <a:ea typeface="华文楷体" panose="02010600040101010101" pitchFamily="2" charset="-122"/>
                <a:hlinkClick r:id="rId2"/>
              </a:rPr>
              <a:t> 2026 </a:t>
            </a:r>
            <a:r>
              <a:rPr lang="zh-CN" altLang="en-US" sz="1200" dirty="0">
                <a:latin typeface="华文楷体" panose="02010600040101010101" pitchFamily="2" charset="-122"/>
                <a:ea typeface="华文楷体" panose="02010600040101010101" pitchFamily="2" charset="-122"/>
                <a:hlinkClick r:id="rId2"/>
              </a:rPr>
              <a:t>缪江铭</a:t>
            </a:r>
            <a:endParaRPr lang="zh-CN" altLang="en-US" sz="12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7B1843A-A225-8F5D-FF9E-CF517B5D4277}"/>
              </a:ext>
            </a:extLst>
          </p:cNvPr>
          <p:cNvSpPr txBox="1"/>
          <p:nvPr/>
        </p:nvSpPr>
        <p:spPr>
          <a:xfrm>
            <a:off x="-85043" y="4340015"/>
            <a:ext cx="204157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hlinkClick r:id="rId2"/>
              </a:rPr>
              <a:t>https://github.com/JiangmingLater/-1</a:t>
            </a:r>
            <a:endParaRPr lang="zh-CN" altLang="en-US" sz="900" dirty="0"/>
          </a:p>
        </p:txBody>
      </p:sp>
    </p:spTree>
    <p:extLst>
      <p:ext uri="{BB962C8B-B14F-4D97-AF65-F5344CB8AC3E}">
        <p14:creationId xmlns:p14="http://schemas.microsoft.com/office/powerpoint/2010/main" val="27557180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IMAGE" val="New_Batches_1226_Outline/20231226/images_object_12001_13000/ca986eca-4664-486a-ad57-6ae779416237-3.source.default.zh-Hans.jpg"/>
  <p:tag name="OFFICEPLUS.THEME" val="New_Batches_1226_Outline/20231226/images_object_12001_13000/ca986eca-4664-486a-ad57-6ae779416237-3.source.default.zh-Hans-0.pptx"/>
  <p:tag name="OFFICEPLUS.OUTLINE" val="728279"/>
  <p:tag name="OFFICEPLUS.OUTLINEEXTERNAL" val="d593cd6d-92e5-4d7c-80d8-af5c21b0c2c9"/>
</p:tagLst>
</file>

<file path=ppt/theme/theme1.xml><?xml version="1.0" encoding="utf-8"?>
<a:theme xmlns:a="http://schemas.openxmlformats.org/drawingml/2006/main" name="Designed by OfficePLUS">
  <a:themeElements>
    <a:clrScheme name="OfficePLUS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62900"/>
      </a:accent1>
      <a:accent2>
        <a:srgbClr val="FF750D"/>
      </a:accent2>
      <a:accent3>
        <a:srgbClr val="085999"/>
      </a:accent3>
      <a:accent4>
        <a:srgbClr val="3C9EDB"/>
      </a:accent4>
      <a:accent5>
        <a:srgbClr val="920A00"/>
      </a:accent5>
      <a:accent6>
        <a:srgbClr val="8AC2E7"/>
      </a:accent6>
      <a:hlink>
        <a:srgbClr val="4472C4"/>
      </a:hlink>
      <a:folHlink>
        <a:srgbClr val="BFBFBF"/>
      </a:folHlink>
    </a:clrScheme>
    <a:fontScheme name="OfficePLU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PLUS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PLUS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573</TotalTime>
  <Words>1226</Words>
  <Application>Microsoft Office PowerPoint</Application>
  <PresentationFormat>宽屏</PresentationFormat>
  <Paragraphs>135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28" baseType="lpstr">
      <vt:lpstr>等线</vt:lpstr>
      <vt:lpstr>Arial</vt:lpstr>
      <vt:lpstr>华文楷体</vt:lpstr>
      <vt:lpstr>楷体</vt:lpstr>
      <vt:lpstr>Designed by OfficePLUS</vt:lpstr>
      <vt:lpstr>牛——从一幅画，变成一个字</vt:lpstr>
      <vt:lpstr>目录</vt:lpstr>
      <vt:lpstr>第一篇章    什么是象形字 </vt:lpstr>
      <vt:lpstr>1.什么是象形字</vt:lpstr>
      <vt:lpstr>2.甲骨文——画牛头  </vt:lpstr>
      <vt:lpstr>2.甲骨文——画牛头</vt:lpstr>
      <vt:lpstr>3.金文、小篆——线条化</vt:lpstr>
      <vt:lpstr>3.金文、小篆——线条化</vt:lpstr>
      <vt:lpstr>4.隶书、楷书——变成今天的“牛”  </vt:lpstr>
      <vt:lpstr>4.隶书、楷书——变成今天的“牛”</vt:lpstr>
      <vt:lpstr>5.总结：汉字的演化 </vt:lpstr>
      <vt:lpstr>5.总结：汉字的演化</vt:lpstr>
      <vt:lpstr>七、牛字的一些俗语</vt:lpstr>
      <vt:lpstr>七、牛字的一些俗语</vt:lpstr>
      <vt:lpstr>八、书写 </vt:lpstr>
      <vt:lpstr>八、书写</vt:lpstr>
      <vt:lpstr>九、牛姓名人 </vt:lpstr>
      <vt:lpstr>九、牛姓名人</vt:lpstr>
      <vt:lpstr>十、牛字字义</vt:lpstr>
      <vt:lpstr>十、牛字字义</vt:lpstr>
      <vt:lpstr>十、结尾</vt:lpstr>
      <vt:lpstr>结尾</vt:lpstr>
      <vt:lpstr>谢谢大家</vt:lpstr>
    </vt:vector>
  </TitlesOfParts>
  <Company>OfficePLUS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Copyright2026</dc:title>
  <dc:creator>MiaoJiangming</dc:creator>
  <cp:keywords>Xiaoming</cp:keywords>
  <cp:lastModifiedBy>Miao jiangming</cp:lastModifiedBy>
  <cp:revision>14</cp:revision>
  <dcterms:created xsi:type="dcterms:W3CDTF">2023-07-20T03:04:31Z</dcterms:created>
  <dcterms:modified xsi:type="dcterms:W3CDTF">2026-04-23T14:52:19Z</dcterms:modified>
</cp:coreProperties>
</file>